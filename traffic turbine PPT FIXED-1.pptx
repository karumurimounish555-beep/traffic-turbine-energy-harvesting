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57" r:id="rId4"/>
    <p:sldId id="266" r:id="rId5"/>
    <p:sldId id="274" r:id="rId6"/>
    <p:sldId id="259" r:id="rId7"/>
    <p:sldId id="265" r:id="rId8"/>
    <p:sldId id="270" r:id="rId9"/>
    <p:sldId id="271" r:id="rId10"/>
    <p:sldId id="263" r:id="rId11"/>
    <p:sldId id="273"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9F8"/>
    <a:srgbClr val="D9FEFF"/>
    <a:srgbClr val="6DFCFF"/>
    <a:srgbClr val="00FFF6"/>
    <a:srgbClr val="00FFD1"/>
    <a:srgbClr val="75F1F7"/>
    <a:srgbClr val="81E6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594" y="5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19EAC-0ADF-8C68-6B2E-026190967A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CDE3392-EC77-8148-F5F7-9E5EC2BFD8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AB9CD7F-E867-BC9C-EA4A-B59590287BF2}"/>
              </a:ext>
            </a:extLst>
          </p:cNvPr>
          <p:cNvSpPr>
            <a:spLocks noGrp="1"/>
          </p:cNvSpPr>
          <p:nvPr>
            <p:ph type="dt" sz="half" idx="10"/>
          </p:nvPr>
        </p:nvSpPr>
        <p:spPr/>
        <p:txBody>
          <a:bodyPr/>
          <a:lstStyle/>
          <a:p>
            <a:fld id="{B96C5B30-B4E5-4C1D-AE3B-14AC852305B3}" type="datetimeFigureOut">
              <a:rPr lang="en-IN" smtClean="0"/>
              <a:pPr/>
              <a:t>15-04-2023</a:t>
            </a:fld>
            <a:endParaRPr lang="en-IN"/>
          </a:p>
        </p:txBody>
      </p:sp>
      <p:sp>
        <p:nvSpPr>
          <p:cNvPr id="5" name="Footer Placeholder 4">
            <a:extLst>
              <a:ext uri="{FF2B5EF4-FFF2-40B4-BE49-F238E27FC236}">
                <a16:creationId xmlns:a16="http://schemas.microsoft.com/office/drawing/2014/main" id="{AA642613-7A4D-0D52-A7CD-B85DD1134D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210B12-CCE5-897A-8DA6-806709077703}"/>
              </a:ext>
            </a:extLst>
          </p:cNvPr>
          <p:cNvSpPr>
            <a:spLocks noGrp="1"/>
          </p:cNvSpPr>
          <p:nvPr>
            <p:ph type="sldNum" sz="quarter" idx="12"/>
          </p:nvPr>
        </p:nvSpPr>
        <p:spPr/>
        <p:txBody>
          <a:bodyPr/>
          <a:lstStyle/>
          <a:p>
            <a:fld id="{5E66BD10-67E3-444D-BAC9-EFF9DC05EDAE}" type="slidenum">
              <a:rPr lang="en-IN" smtClean="0"/>
              <a:pPr/>
              <a:t>‹#›</a:t>
            </a:fld>
            <a:endParaRPr lang="en-IN"/>
          </a:p>
        </p:txBody>
      </p:sp>
    </p:spTree>
    <p:extLst>
      <p:ext uri="{BB962C8B-B14F-4D97-AF65-F5344CB8AC3E}">
        <p14:creationId xmlns:p14="http://schemas.microsoft.com/office/powerpoint/2010/main" val="2680514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8A07A-8EF5-02AA-9578-B5EDE922AA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4B82D2-74F3-3F79-BBB1-A6B147382A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EA14D2-0DE3-0873-C0DF-510395C9CF48}"/>
              </a:ext>
            </a:extLst>
          </p:cNvPr>
          <p:cNvSpPr>
            <a:spLocks noGrp="1"/>
          </p:cNvSpPr>
          <p:nvPr>
            <p:ph type="dt" sz="half" idx="10"/>
          </p:nvPr>
        </p:nvSpPr>
        <p:spPr/>
        <p:txBody>
          <a:bodyPr/>
          <a:lstStyle/>
          <a:p>
            <a:fld id="{B96C5B30-B4E5-4C1D-AE3B-14AC852305B3}" type="datetimeFigureOut">
              <a:rPr lang="en-IN" smtClean="0"/>
              <a:pPr/>
              <a:t>15-04-2023</a:t>
            </a:fld>
            <a:endParaRPr lang="en-IN"/>
          </a:p>
        </p:txBody>
      </p:sp>
      <p:sp>
        <p:nvSpPr>
          <p:cNvPr id="5" name="Footer Placeholder 4">
            <a:extLst>
              <a:ext uri="{FF2B5EF4-FFF2-40B4-BE49-F238E27FC236}">
                <a16:creationId xmlns:a16="http://schemas.microsoft.com/office/drawing/2014/main" id="{88EAF992-365D-997C-5DF2-B8944C9B58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484046-E5A0-B50E-F20A-1BF14EDE8CDD}"/>
              </a:ext>
            </a:extLst>
          </p:cNvPr>
          <p:cNvSpPr>
            <a:spLocks noGrp="1"/>
          </p:cNvSpPr>
          <p:nvPr>
            <p:ph type="sldNum" sz="quarter" idx="12"/>
          </p:nvPr>
        </p:nvSpPr>
        <p:spPr/>
        <p:txBody>
          <a:bodyPr/>
          <a:lstStyle/>
          <a:p>
            <a:fld id="{5E66BD10-67E3-444D-BAC9-EFF9DC05EDAE}" type="slidenum">
              <a:rPr lang="en-IN" smtClean="0"/>
              <a:pPr/>
              <a:t>‹#›</a:t>
            </a:fld>
            <a:endParaRPr lang="en-IN"/>
          </a:p>
        </p:txBody>
      </p:sp>
    </p:spTree>
    <p:extLst>
      <p:ext uri="{BB962C8B-B14F-4D97-AF65-F5344CB8AC3E}">
        <p14:creationId xmlns:p14="http://schemas.microsoft.com/office/powerpoint/2010/main" val="3869574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9EF1F-7CCA-FB12-7FEF-6B96810520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6433AE8-257C-B843-9C10-75D6BC7A9F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8A06EA-D4EC-9076-F29B-A7018E8074D3}"/>
              </a:ext>
            </a:extLst>
          </p:cNvPr>
          <p:cNvSpPr>
            <a:spLocks noGrp="1"/>
          </p:cNvSpPr>
          <p:nvPr>
            <p:ph type="dt" sz="half" idx="10"/>
          </p:nvPr>
        </p:nvSpPr>
        <p:spPr/>
        <p:txBody>
          <a:bodyPr/>
          <a:lstStyle/>
          <a:p>
            <a:fld id="{B96C5B30-B4E5-4C1D-AE3B-14AC852305B3}" type="datetimeFigureOut">
              <a:rPr lang="en-IN" smtClean="0"/>
              <a:pPr/>
              <a:t>15-04-2023</a:t>
            </a:fld>
            <a:endParaRPr lang="en-IN"/>
          </a:p>
        </p:txBody>
      </p:sp>
      <p:sp>
        <p:nvSpPr>
          <p:cNvPr id="5" name="Footer Placeholder 4">
            <a:extLst>
              <a:ext uri="{FF2B5EF4-FFF2-40B4-BE49-F238E27FC236}">
                <a16:creationId xmlns:a16="http://schemas.microsoft.com/office/drawing/2014/main" id="{7C7E6C64-1091-F857-FC29-B540344DD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DD8D2B-3363-8F05-65E6-A0C38E1D4839}"/>
              </a:ext>
            </a:extLst>
          </p:cNvPr>
          <p:cNvSpPr>
            <a:spLocks noGrp="1"/>
          </p:cNvSpPr>
          <p:nvPr>
            <p:ph type="sldNum" sz="quarter" idx="12"/>
          </p:nvPr>
        </p:nvSpPr>
        <p:spPr/>
        <p:txBody>
          <a:bodyPr/>
          <a:lstStyle/>
          <a:p>
            <a:fld id="{5E66BD10-67E3-444D-BAC9-EFF9DC05EDAE}" type="slidenum">
              <a:rPr lang="en-IN" smtClean="0"/>
              <a:pPr/>
              <a:t>‹#›</a:t>
            </a:fld>
            <a:endParaRPr lang="en-IN"/>
          </a:p>
        </p:txBody>
      </p:sp>
    </p:spTree>
    <p:extLst>
      <p:ext uri="{BB962C8B-B14F-4D97-AF65-F5344CB8AC3E}">
        <p14:creationId xmlns:p14="http://schemas.microsoft.com/office/powerpoint/2010/main" val="3086435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14E89-2D95-5AD3-C5AB-76987A971D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0DF886-D484-4AF8-01F2-437F187270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A4643A5-9104-9E83-2961-8A1927ADEC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C56C190-FA23-6CD0-0BDC-B3091ECB588D}"/>
              </a:ext>
            </a:extLst>
          </p:cNvPr>
          <p:cNvSpPr>
            <a:spLocks noGrp="1"/>
          </p:cNvSpPr>
          <p:nvPr>
            <p:ph type="dt" sz="half" idx="10"/>
          </p:nvPr>
        </p:nvSpPr>
        <p:spPr/>
        <p:txBody>
          <a:bodyPr/>
          <a:lstStyle/>
          <a:p>
            <a:fld id="{B96C5B30-B4E5-4C1D-AE3B-14AC852305B3}" type="datetimeFigureOut">
              <a:rPr lang="en-IN" smtClean="0"/>
              <a:pPr/>
              <a:t>15-04-2023</a:t>
            </a:fld>
            <a:endParaRPr lang="en-IN"/>
          </a:p>
        </p:txBody>
      </p:sp>
      <p:sp>
        <p:nvSpPr>
          <p:cNvPr id="6" name="Footer Placeholder 5">
            <a:extLst>
              <a:ext uri="{FF2B5EF4-FFF2-40B4-BE49-F238E27FC236}">
                <a16:creationId xmlns:a16="http://schemas.microsoft.com/office/drawing/2014/main" id="{3F4373A0-798A-ACFB-04C5-2B9C5BB8F2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D169B2-CB14-B4D1-E655-6D186BD81EBA}"/>
              </a:ext>
            </a:extLst>
          </p:cNvPr>
          <p:cNvSpPr>
            <a:spLocks noGrp="1"/>
          </p:cNvSpPr>
          <p:nvPr>
            <p:ph type="sldNum" sz="quarter" idx="12"/>
          </p:nvPr>
        </p:nvSpPr>
        <p:spPr/>
        <p:txBody>
          <a:bodyPr/>
          <a:lstStyle/>
          <a:p>
            <a:fld id="{5E66BD10-67E3-444D-BAC9-EFF9DC05EDAE}" type="slidenum">
              <a:rPr lang="en-IN" smtClean="0"/>
              <a:pPr/>
              <a:t>‹#›</a:t>
            </a:fld>
            <a:endParaRPr lang="en-IN"/>
          </a:p>
        </p:txBody>
      </p:sp>
    </p:spTree>
    <p:extLst>
      <p:ext uri="{BB962C8B-B14F-4D97-AF65-F5344CB8AC3E}">
        <p14:creationId xmlns:p14="http://schemas.microsoft.com/office/powerpoint/2010/main" val="2537186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033EA-8931-254A-602A-09F9582DB2E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68E03F5-0970-DCD0-54AF-CB2A048DD9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B0A019-07FB-80C5-5E4D-1A2209F26E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91B493D-D246-C341-6265-14F6859613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C49161-F245-DA89-59AE-31F470D2E9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777E0C4-72E7-ACF9-BEA1-94165A7B0742}"/>
              </a:ext>
            </a:extLst>
          </p:cNvPr>
          <p:cNvSpPr>
            <a:spLocks noGrp="1"/>
          </p:cNvSpPr>
          <p:nvPr>
            <p:ph type="dt" sz="half" idx="10"/>
          </p:nvPr>
        </p:nvSpPr>
        <p:spPr/>
        <p:txBody>
          <a:bodyPr/>
          <a:lstStyle/>
          <a:p>
            <a:fld id="{B96C5B30-B4E5-4C1D-AE3B-14AC852305B3}" type="datetimeFigureOut">
              <a:rPr lang="en-IN" smtClean="0"/>
              <a:pPr/>
              <a:t>15-04-2023</a:t>
            </a:fld>
            <a:endParaRPr lang="en-IN"/>
          </a:p>
        </p:txBody>
      </p:sp>
      <p:sp>
        <p:nvSpPr>
          <p:cNvPr id="8" name="Footer Placeholder 7">
            <a:extLst>
              <a:ext uri="{FF2B5EF4-FFF2-40B4-BE49-F238E27FC236}">
                <a16:creationId xmlns:a16="http://schemas.microsoft.com/office/drawing/2014/main" id="{CF43F345-7C9D-EEE6-9C2A-693E536F7D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AAF0BD7-336A-B52B-C137-4B15E952BC11}"/>
              </a:ext>
            </a:extLst>
          </p:cNvPr>
          <p:cNvSpPr>
            <a:spLocks noGrp="1"/>
          </p:cNvSpPr>
          <p:nvPr>
            <p:ph type="sldNum" sz="quarter" idx="12"/>
          </p:nvPr>
        </p:nvSpPr>
        <p:spPr/>
        <p:txBody>
          <a:bodyPr/>
          <a:lstStyle/>
          <a:p>
            <a:fld id="{5E66BD10-67E3-444D-BAC9-EFF9DC05EDAE}" type="slidenum">
              <a:rPr lang="en-IN" smtClean="0"/>
              <a:pPr/>
              <a:t>‹#›</a:t>
            </a:fld>
            <a:endParaRPr lang="en-IN"/>
          </a:p>
        </p:txBody>
      </p:sp>
    </p:spTree>
    <p:extLst>
      <p:ext uri="{BB962C8B-B14F-4D97-AF65-F5344CB8AC3E}">
        <p14:creationId xmlns:p14="http://schemas.microsoft.com/office/powerpoint/2010/main" val="412867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CFE5-480E-463A-86E4-53101B427D3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B27AE58-3E5C-38CB-626F-0F3173C76989}"/>
              </a:ext>
            </a:extLst>
          </p:cNvPr>
          <p:cNvSpPr>
            <a:spLocks noGrp="1"/>
          </p:cNvSpPr>
          <p:nvPr>
            <p:ph type="dt" sz="half" idx="10"/>
          </p:nvPr>
        </p:nvSpPr>
        <p:spPr/>
        <p:txBody>
          <a:bodyPr/>
          <a:lstStyle/>
          <a:p>
            <a:fld id="{B96C5B30-B4E5-4C1D-AE3B-14AC852305B3}" type="datetimeFigureOut">
              <a:rPr lang="en-IN" smtClean="0"/>
              <a:pPr/>
              <a:t>15-04-2023</a:t>
            </a:fld>
            <a:endParaRPr lang="en-IN"/>
          </a:p>
        </p:txBody>
      </p:sp>
      <p:sp>
        <p:nvSpPr>
          <p:cNvPr id="4" name="Footer Placeholder 3">
            <a:extLst>
              <a:ext uri="{FF2B5EF4-FFF2-40B4-BE49-F238E27FC236}">
                <a16:creationId xmlns:a16="http://schemas.microsoft.com/office/drawing/2014/main" id="{10E29679-1BD3-9B4A-19D9-E7E8651898F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AF76BF7-B4EA-64E7-C47A-7D1A5806333E}"/>
              </a:ext>
            </a:extLst>
          </p:cNvPr>
          <p:cNvSpPr>
            <a:spLocks noGrp="1"/>
          </p:cNvSpPr>
          <p:nvPr>
            <p:ph type="sldNum" sz="quarter" idx="12"/>
          </p:nvPr>
        </p:nvSpPr>
        <p:spPr/>
        <p:txBody>
          <a:bodyPr/>
          <a:lstStyle/>
          <a:p>
            <a:fld id="{5E66BD10-67E3-444D-BAC9-EFF9DC05EDAE}" type="slidenum">
              <a:rPr lang="en-IN" smtClean="0"/>
              <a:pPr/>
              <a:t>‹#›</a:t>
            </a:fld>
            <a:endParaRPr lang="en-IN"/>
          </a:p>
        </p:txBody>
      </p:sp>
    </p:spTree>
    <p:extLst>
      <p:ext uri="{BB962C8B-B14F-4D97-AF65-F5344CB8AC3E}">
        <p14:creationId xmlns:p14="http://schemas.microsoft.com/office/powerpoint/2010/main" val="2643290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146749-25B0-BA16-5D22-FDB5CA1ABE2A}"/>
              </a:ext>
            </a:extLst>
          </p:cNvPr>
          <p:cNvSpPr>
            <a:spLocks noGrp="1"/>
          </p:cNvSpPr>
          <p:nvPr>
            <p:ph type="dt" sz="half" idx="10"/>
          </p:nvPr>
        </p:nvSpPr>
        <p:spPr/>
        <p:txBody>
          <a:bodyPr/>
          <a:lstStyle/>
          <a:p>
            <a:fld id="{B96C5B30-B4E5-4C1D-AE3B-14AC852305B3}" type="datetimeFigureOut">
              <a:rPr lang="en-IN" smtClean="0"/>
              <a:pPr/>
              <a:t>15-04-2023</a:t>
            </a:fld>
            <a:endParaRPr lang="en-IN"/>
          </a:p>
        </p:txBody>
      </p:sp>
      <p:sp>
        <p:nvSpPr>
          <p:cNvPr id="3" name="Footer Placeholder 2">
            <a:extLst>
              <a:ext uri="{FF2B5EF4-FFF2-40B4-BE49-F238E27FC236}">
                <a16:creationId xmlns:a16="http://schemas.microsoft.com/office/drawing/2014/main" id="{5FBEFBBB-6D78-93E5-68F3-992A3564842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2A56790-9B65-0FAE-943C-6BB378C10BCC}"/>
              </a:ext>
            </a:extLst>
          </p:cNvPr>
          <p:cNvSpPr>
            <a:spLocks noGrp="1"/>
          </p:cNvSpPr>
          <p:nvPr>
            <p:ph type="sldNum" sz="quarter" idx="12"/>
          </p:nvPr>
        </p:nvSpPr>
        <p:spPr/>
        <p:txBody>
          <a:bodyPr/>
          <a:lstStyle/>
          <a:p>
            <a:fld id="{5E66BD10-67E3-444D-BAC9-EFF9DC05EDAE}" type="slidenum">
              <a:rPr lang="en-IN" smtClean="0"/>
              <a:pPr/>
              <a:t>‹#›</a:t>
            </a:fld>
            <a:endParaRPr lang="en-IN"/>
          </a:p>
        </p:txBody>
      </p:sp>
    </p:spTree>
    <p:extLst>
      <p:ext uri="{BB962C8B-B14F-4D97-AF65-F5344CB8AC3E}">
        <p14:creationId xmlns:p14="http://schemas.microsoft.com/office/powerpoint/2010/main" val="3904472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C5C4A-A741-C19E-1843-840873CE56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0EF9ECF-38D7-01DF-4959-FD8EE56F5F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CFB46B5-DC51-CEF5-5455-FEC21A2D86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5EF6FA-6CF0-67BE-FF5D-2F7EF972C157}"/>
              </a:ext>
            </a:extLst>
          </p:cNvPr>
          <p:cNvSpPr>
            <a:spLocks noGrp="1"/>
          </p:cNvSpPr>
          <p:nvPr>
            <p:ph type="dt" sz="half" idx="10"/>
          </p:nvPr>
        </p:nvSpPr>
        <p:spPr/>
        <p:txBody>
          <a:bodyPr/>
          <a:lstStyle/>
          <a:p>
            <a:fld id="{B96C5B30-B4E5-4C1D-AE3B-14AC852305B3}" type="datetimeFigureOut">
              <a:rPr lang="en-IN" smtClean="0"/>
              <a:pPr/>
              <a:t>15-04-2023</a:t>
            </a:fld>
            <a:endParaRPr lang="en-IN"/>
          </a:p>
        </p:txBody>
      </p:sp>
      <p:sp>
        <p:nvSpPr>
          <p:cNvPr id="6" name="Footer Placeholder 5">
            <a:extLst>
              <a:ext uri="{FF2B5EF4-FFF2-40B4-BE49-F238E27FC236}">
                <a16:creationId xmlns:a16="http://schemas.microsoft.com/office/drawing/2014/main" id="{6DA74815-04D7-3917-7578-5EB198E311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7643FE-2C8F-2BAD-E72E-A2F34294FF4C}"/>
              </a:ext>
            </a:extLst>
          </p:cNvPr>
          <p:cNvSpPr>
            <a:spLocks noGrp="1"/>
          </p:cNvSpPr>
          <p:nvPr>
            <p:ph type="sldNum" sz="quarter" idx="12"/>
          </p:nvPr>
        </p:nvSpPr>
        <p:spPr/>
        <p:txBody>
          <a:bodyPr/>
          <a:lstStyle/>
          <a:p>
            <a:fld id="{5E66BD10-67E3-444D-BAC9-EFF9DC05EDAE}" type="slidenum">
              <a:rPr lang="en-IN" smtClean="0"/>
              <a:pPr/>
              <a:t>‹#›</a:t>
            </a:fld>
            <a:endParaRPr lang="en-IN"/>
          </a:p>
        </p:txBody>
      </p:sp>
    </p:spTree>
    <p:extLst>
      <p:ext uri="{BB962C8B-B14F-4D97-AF65-F5344CB8AC3E}">
        <p14:creationId xmlns:p14="http://schemas.microsoft.com/office/powerpoint/2010/main" val="2529038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9E3E3-BC5A-FE1D-13F5-DF2E1E41A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81145E2-A865-6F7B-491A-59F890BBC8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05719B5-E298-94C0-00B4-91F6D9E289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3B2338-332D-BDEE-AC24-31CE1F1BA545}"/>
              </a:ext>
            </a:extLst>
          </p:cNvPr>
          <p:cNvSpPr>
            <a:spLocks noGrp="1"/>
          </p:cNvSpPr>
          <p:nvPr>
            <p:ph type="dt" sz="half" idx="10"/>
          </p:nvPr>
        </p:nvSpPr>
        <p:spPr/>
        <p:txBody>
          <a:bodyPr/>
          <a:lstStyle/>
          <a:p>
            <a:fld id="{B96C5B30-B4E5-4C1D-AE3B-14AC852305B3}" type="datetimeFigureOut">
              <a:rPr lang="en-IN" smtClean="0"/>
              <a:pPr/>
              <a:t>15-04-2023</a:t>
            </a:fld>
            <a:endParaRPr lang="en-IN"/>
          </a:p>
        </p:txBody>
      </p:sp>
      <p:sp>
        <p:nvSpPr>
          <p:cNvPr id="6" name="Footer Placeholder 5">
            <a:extLst>
              <a:ext uri="{FF2B5EF4-FFF2-40B4-BE49-F238E27FC236}">
                <a16:creationId xmlns:a16="http://schemas.microsoft.com/office/drawing/2014/main" id="{CBAEA427-CEB2-46EF-328D-EB9862E8EF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5F84A1-5AB8-0765-FF6A-3AFAB9F48DD0}"/>
              </a:ext>
            </a:extLst>
          </p:cNvPr>
          <p:cNvSpPr>
            <a:spLocks noGrp="1"/>
          </p:cNvSpPr>
          <p:nvPr>
            <p:ph type="sldNum" sz="quarter" idx="12"/>
          </p:nvPr>
        </p:nvSpPr>
        <p:spPr/>
        <p:txBody>
          <a:bodyPr/>
          <a:lstStyle/>
          <a:p>
            <a:fld id="{5E66BD10-67E3-444D-BAC9-EFF9DC05EDAE}" type="slidenum">
              <a:rPr lang="en-IN" smtClean="0"/>
              <a:pPr/>
              <a:t>‹#›</a:t>
            </a:fld>
            <a:endParaRPr lang="en-IN"/>
          </a:p>
        </p:txBody>
      </p:sp>
    </p:spTree>
    <p:extLst>
      <p:ext uri="{BB962C8B-B14F-4D97-AF65-F5344CB8AC3E}">
        <p14:creationId xmlns:p14="http://schemas.microsoft.com/office/powerpoint/2010/main" val="69271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58394-A246-22D4-C888-92580CDCCAB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00B444F-D64C-8932-7076-B7358D386A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F194AA-3DD4-4CF2-E5ED-F424AF7845B4}"/>
              </a:ext>
            </a:extLst>
          </p:cNvPr>
          <p:cNvSpPr>
            <a:spLocks noGrp="1"/>
          </p:cNvSpPr>
          <p:nvPr>
            <p:ph type="dt" sz="half" idx="10"/>
          </p:nvPr>
        </p:nvSpPr>
        <p:spPr/>
        <p:txBody>
          <a:bodyPr/>
          <a:lstStyle/>
          <a:p>
            <a:fld id="{B96C5B30-B4E5-4C1D-AE3B-14AC852305B3}" type="datetimeFigureOut">
              <a:rPr lang="en-IN" smtClean="0"/>
              <a:pPr/>
              <a:t>15-04-2023</a:t>
            </a:fld>
            <a:endParaRPr lang="en-IN"/>
          </a:p>
        </p:txBody>
      </p:sp>
      <p:sp>
        <p:nvSpPr>
          <p:cNvPr id="5" name="Footer Placeholder 4">
            <a:extLst>
              <a:ext uri="{FF2B5EF4-FFF2-40B4-BE49-F238E27FC236}">
                <a16:creationId xmlns:a16="http://schemas.microsoft.com/office/drawing/2014/main" id="{B3A5D06C-1306-1C67-8300-9E84B96872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F69414-E494-BDF4-6A5B-5FE10F537A6A}"/>
              </a:ext>
            </a:extLst>
          </p:cNvPr>
          <p:cNvSpPr>
            <a:spLocks noGrp="1"/>
          </p:cNvSpPr>
          <p:nvPr>
            <p:ph type="sldNum" sz="quarter" idx="12"/>
          </p:nvPr>
        </p:nvSpPr>
        <p:spPr/>
        <p:txBody>
          <a:bodyPr/>
          <a:lstStyle/>
          <a:p>
            <a:fld id="{5E66BD10-67E3-444D-BAC9-EFF9DC05EDAE}" type="slidenum">
              <a:rPr lang="en-IN" smtClean="0"/>
              <a:pPr/>
              <a:t>‹#›</a:t>
            </a:fld>
            <a:endParaRPr lang="en-IN"/>
          </a:p>
        </p:txBody>
      </p:sp>
    </p:spTree>
    <p:extLst>
      <p:ext uri="{BB962C8B-B14F-4D97-AF65-F5344CB8AC3E}">
        <p14:creationId xmlns:p14="http://schemas.microsoft.com/office/powerpoint/2010/main" val="2982563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BE473C-6E18-3EBB-3B19-114B707B58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A3DE75-7C1A-5CA1-7E75-EF0798645C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479D12-5276-B4CC-E5EE-75AC0CB3D188}"/>
              </a:ext>
            </a:extLst>
          </p:cNvPr>
          <p:cNvSpPr>
            <a:spLocks noGrp="1"/>
          </p:cNvSpPr>
          <p:nvPr>
            <p:ph type="dt" sz="half" idx="10"/>
          </p:nvPr>
        </p:nvSpPr>
        <p:spPr/>
        <p:txBody>
          <a:bodyPr/>
          <a:lstStyle/>
          <a:p>
            <a:fld id="{B96C5B30-B4E5-4C1D-AE3B-14AC852305B3}" type="datetimeFigureOut">
              <a:rPr lang="en-IN" smtClean="0"/>
              <a:pPr/>
              <a:t>15-04-2023</a:t>
            </a:fld>
            <a:endParaRPr lang="en-IN"/>
          </a:p>
        </p:txBody>
      </p:sp>
      <p:sp>
        <p:nvSpPr>
          <p:cNvPr id="5" name="Footer Placeholder 4">
            <a:extLst>
              <a:ext uri="{FF2B5EF4-FFF2-40B4-BE49-F238E27FC236}">
                <a16:creationId xmlns:a16="http://schemas.microsoft.com/office/drawing/2014/main" id="{8E91942B-9346-7CAD-C9F4-404D5196F5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F70495-2A3B-5178-E8E3-8C5E355D9128}"/>
              </a:ext>
            </a:extLst>
          </p:cNvPr>
          <p:cNvSpPr>
            <a:spLocks noGrp="1"/>
          </p:cNvSpPr>
          <p:nvPr>
            <p:ph type="sldNum" sz="quarter" idx="12"/>
          </p:nvPr>
        </p:nvSpPr>
        <p:spPr/>
        <p:txBody>
          <a:bodyPr/>
          <a:lstStyle/>
          <a:p>
            <a:fld id="{5E66BD10-67E3-444D-BAC9-EFF9DC05EDAE}" type="slidenum">
              <a:rPr lang="en-IN" smtClean="0"/>
              <a:pPr/>
              <a:t>‹#›</a:t>
            </a:fld>
            <a:endParaRPr lang="en-IN"/>
          </a:p>
        </p:txBody>
      </p:sp>
    </p:spTree>
    <p:extLst>
      <p:ext uri="{BB962C8B-B14F-4D97-AF65-F5344CB8AC3E}">
        <p14:creationId xmlns:p14="http://schemas.microsoft.com/office/powerpoint/2010/main" val="3239503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7000">
              <a:srgbClr val="D9FEFF"/>
            </a:gs>
            <a:gs pos="100000">
              <a:schemeClr val="accent1">
                <a:lumMod val="45000"/>
                <a:lumOff val="55000"/>
                <a:alpha val="67000"/>
              </a:schemeClr>
            </a:gs>
            <a:gs pos="100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C275A5-8E50-55E9-D1ED-34C38C1D3F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7FCDB3B-03E2-3421-D684-5097F50A15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91AE50-B8E9-2737-0D25-C18C63BE3F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6C5B30-B4E5-4C1D-AE3B-14AC852305B3}" type="datetimeFigureOut">
              <a:rPr lang="en-IN" smtClean="0"/>
              <a:pPr/>
              <a:t>15-04-2023</a:t>
            </a:fld>
            <a:endParaRPr lang="en-IN"/>
          </a:p>
        </p:txBody>
      </p:sp>
      <p:sp>
        <p:nvSpPr>
          <p:cNvPr id="5" name="Footer Placeholder 4">
            <a:extLst>
              <a:ext uri="{FF2B5EF4-FFF2-40B4-BE49-F238E27FC236}">
                <a16:creationId xmlns:a16="http://schemas.microsoft.com/office/drawing/2014/main" id="{888385B4-E5F5-A3CA-2314-D7B62A5DD2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E693131-E339-5B99-5DAE-182C4BA532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66BD10-67E3-444D-BAC9-EFF9DC05EDAE}" type="slidenum">
              <a:rPr lang="en-IN" smtClean="0"/>
              <a:pPr/>
              <a:t>‹#›</a:t>
            </a:fld>
            <a:endParaRPr lang="en-IN"/>
          </a:p>
        </p:txBody>
      </p:sp>
    </p:spTree>
    <p:extLst>
      <p:ext uri="{BB962C8B-B14F-4D97-AF65-F5344CB8AC3E}">
        <p14:creationId xmlns:p14="http://schemas.microsoft.com/office/powerpoint/2010/main" val="10897025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54AFBD6-2CA2-76AF-1531-4F40576E5C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2913" y="244961"/>
            <a:ext cx="890588" cy="890588"/>
          </a:xfrm>
          <a:prstGeom prst="rect">
            <a:avLst/>
          </a:prstGeom>
        </p:spPr>
      </p:pic>
      <p:sp>
        <p:nvSpPr>
          <p:cNvPr id="8" name="TextBox 7">
            <a:extLst>
              <a:ext uri="{FF2B5EF4-FFF2-40B4-BE49-F238E27FC236}">
                <a16:creationId xmlns:a16="http://schemas.microsoft.com/office/drawing/2014/main" id="{DA328952-5699-275F-5029-9C2286A14524}"/>
              </a:ext>
            </a:extLst>
          </p:cNvPr>
          <p:cNvSpPr txBox="1"/>
          <p:nvPr/>
        </p:nvSpPr>
        <p:spPr>
          <a:xfrm>
            <a:off x="1333501" y="314571"/>
            <a:ext cx="10667999" cy="773353"/>
          </a:xfrm>
          <a:prstGeom prst="rect">
            <a:avLst/>
          </a:prstGeom>
          <a:noFill/>
        </p:spPr>
        <p:txBody>
          <a:bodyPr wrap="square">
            <a:spAutoFit/>
          </a:bodyPr>
          <a:lstStyle/>
          <a:p>
            <a:pPr algn="ctr">
              <a:lnSpc>
                <a:spcPct val="115000"/>
              </a:lnSpc>
              <a:spcAft>
                <a:spcPts val="5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DHANEKULA INSTTUTE OF ENGINEERING AND TECHNOLOGY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5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ELECTRICAL AND ELECTRONICS ENGINEERING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24C8AB62-B800-5B68-0A72-A9D9F5C76AEC}"/>
              </a:ext>
            </a:extLst>
          </p:cNvPr>
          <p:cNvSpPr txBox="1"/>
          <p:nvPr/>
        </p:nvSpPr>
        <p:spPr>
          <a:xfrm>
            <a:off x="445294" y="1720927"/>
            <a:ext cx="11556206" cy="834524"/>
          </a:xfrm>
          <a:prstGeom prst="rect">
            <a:avLst/>
          </a:prstGeom>
          <a:solidFill>
            <a:schemeClr val="bg1"/>
          </a:solidFill>
        </p:spPr>
        <p:txBody>
          <a:bodyPr wrap="square">
            <a:spAutoFit/>
          </a:bodyPr>
          <a:lstStyle/>
          <a:p>
            <a:pPr algn="ctr">
              <a:lnSpc>
                <a:spcPct val="150000"/>
              </a:lnSpc>
              <a:spcAft>
                <a:spcPts val="1000"/>
              </a:spcAft>
            </a:pPr>
            <a:endParaRPr lang="en-IN" sz="3600" b="1" dirty="0">
              <a:solidFill>
                <a:srgbClr val="34A9F8"/>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Box 1">
            <a:extLst>
              <a:ext uri="{FF2B5EF4-FFF2-40B4-BE49-F238E27FC236}">
                <a16:creationId xmlns:a16="http://schemas.microsoft.com/office/drawing/2014/main" id="{AE3FCD39-03CC-C722-C12F-16B683AC7BFB}"/>
              </a:ext>
            </a:extLst>
          </p:cNvPr>
          <p:cNvSpPr/>
          <p:nvPr/>
        </p:nvSpPr>
        <p:spPr>
          <a:xfrm>
            <a:off x="8342040" y="3603225"/>
            <a:ext cx="2918160" cy="829543"/>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r"/>
            <a:r>
              <a:rPr lang="en-US" sz="2400" b="0" strike="noStrike" spc="-1" dirty="0">
                <a:solidFill>
                  <a:srgbClr val="262626"/>
                </a:solidFill>
                <a:latin typeface="Arial"/>
                <a:ea typeface="Arial Unicode MS"/>
              </a:rPr>
              <a:t>Our </a:t>
            </a:r>
            <a:r>
              <a:rPr lang="en-US" sz="2400" b="0" strike="noStrike" spc="-1" dirty="0">
                <a:solidFill>
                  <a:srgbClr val="34A9F8"/>
                </a:solidFill>
                <a:latin typeface="Arial"/>
                <a:ea typeface="Arial Unicode MS"/>
              </a:rPr>
              <a:t>Team Members</a:t>
            </a:r>
            <a:endParaRPr lang="en-IN" sz="2400" b="0" strike="noStrike" spc="-1" dirty="0">
              <a:solidFill>
                <a:srgbClr val="34A9F8"/>
              </a:solidFill>
              <a:latin typeface="Arial"/>
            </a:endParaRPr>
          </a:p>
          <a:p>
            <a:pPr algn="r">
              <a:lnSpc>
                <a:spcPct val="100000"/>
              </a:lnSpc>
            </a:pPr>
            <a:endParaRPr lang="en-IN" sz="2400" b="0" strike="noStrike" spc="-1" dirty="0">
              <a:latin typeface="Arial"/>
            </a:endParaRPr>
          </a:p>
        </p:txBody>
      </p:sp>
      <p:grpSp>
        <p:nvGrpSpPr>
          <p:cNvPr id="15" name="Group 33">
            <a:extLst>
              <a:ext uri="{FF2B5EF4-FFF2-40B4-BE49-F238E27FC236}">
                <a16:creationId xmlns:a16="http://schemas.microsoft.com/office/drawing/2014/main" id="{9203023D-D4BB-7866-4A31-35D08734F167}"/>
              </a:ext>
            </a:extLst>
          </p:cNvPr>
          <p:cNvGrpSpPr/>
          <p:nvPr/>
        </p:nvGrpSpPr>
        <p:grpSpPr>
          <a:xfrm>
            <a:off x="8423939" y="3603225"/>
            <a:ext cx="2950560" cy="2315160"/>
            <a:chOff x="8947440" y="2544840"/>
            <a:chExt cx="2950560" cy="2315160"/>
          </a:xfrm>
        </p:grpSpPr>
        <p:sp>
          <p:nvSpPr>
            <p:cNvPr id="16" name="Text Placeholder 3">
              <a:extLst>
                <a:ext uri="{FF2B5EF4-FFF2-40B4-BE49-F238E27FC236}">
                  <a16:creationId xmlns:a16="http://schemas.microsoft.com/office/drawing/2014/main" id="{0EBF4526-E694-7A5D-177B-739099273158}"/>
                </a:ext>
              </a:extLst>
            </p:cNvPr>
            <p:cNvSpPr/>
            <p:nvPr/>
          </p:nvSpPr>
          <p:spPr>
            <a:xfrm>
              <a:off x="8979840" y="2544840"/>
              <a:ext cx="2918160" cy="2315160"/>
            </a:xfrm>
            <a:prstGeom prst="rect">
              <a:avLst/>
            </a:prstGeom>
            <a:noFill/>
            <a:ln w="0">
              <a:noFill/>
            </a:ln>
          </p:spPr>
          <p:style>
            <a:lnRef idx="0">
              <a:scrgbClr r="0" g="0" b="0"/>
            </a:lnRef>
            <a:fillRef idx="0">
              <a:scrgbClr r="0" g="0" b="0"/>
            </a:fillRef>
            <a:effectRef idx="0">
              <a:scrgbClr r="0" g="0" b="0"/>
            </a:effectRef>
            <a:fontRef idx="minor"/>
          </p:style>
        </p:sp>
        <p:sp>
          <p:nvSpPr>
            <p:cNvPr id="17" name="TextBox 17">
              <a:extLst>
                <a:ext uri="{FF2B5EF4-FFF2-40B4-BE49-F238E27FC236}">
                  <a16:creationId xmlns:a16="http://schemas.microsoft.com/office/drawing/2014/main" id="{1145EC9F-26E6-CD87-EEFC-FEC8A96A2AFC}"/>
                </a:ext>
              </a:extLst>
            </p:cNvPr>
            <p:cNvSpPr/>
            <p:nvPr/>
          </p:nvSpPr>
          <p:spPr>
            <a:xfrm>
              <a:off x="8947440" y="2913840"/>
              <a:ext cx="2950560" cy="159898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IN" sz="1800" b="0" strike="noStrike" spc="-1" dirty="0">
                <a:latin typeface="Arial"/>
              </a:endParaRPr>
            </a:p>
            <a:p>
              <a:pPr>
                <a:lnSpc>
                  <a:spcPct val="100000"/>
                </a:lnSpc>
              </a:pPr>
              <a:r>
                <a:rPr lang="en-US" sz="1600" b="1" strike="noStrike" spc="-1" dirty="0">
                  <a:solidFill>
                    <a:srgbClr val="404040"/>
                  </a:solidFill>
                  <a:latin typeface="Times New Roman"/>
                  <a:ea typeface="Arial Unicode MS"/>
                </a:rPr>
                <a:t>N.D.Mahesh    -  208T5A0209</a:t>
              </a:r>
              <a:endParaRPr lang="en-IN" sz="1600" b="0" strike="noStrike" spc="-1" dirty="0">
                <a:latin typeface="Arial"/>
              </a:endParaRPr>
            </a:p>
            <a:p>
              <a:pPr>
                <a:lnSpc>
                  <a:spcPct val="100000"/>
                </a:lnSpc>
              </a:pPr>
              <a:r>
                <a:rPr lang="en-US" sz="1600" b="1" strike="noStrike" spc="-1" dirty="0">
                  <a:solidFill>
                    <a:srgbClr val="404040"/>
                  </a:solidFill>
                  <a:latin typeface="Times New Roman"/>
                  <a:ea typeface="Arial Unicode MS"/>
                </a:rPr>
                <a:t>B.Chaitanya    -  208T5A0204</a:t>
              </a:r>
              <a:endParaRPr lang="en-IN" sz="1600" b="0" strike="noStrike" spc="-1" dirty="0">
                <a:latin typeface="Arial"/>
              </a:endParaRPr>
            </a:p>
            <a:p>
              <a:pPr>
                <a:lnSpc>
                  <a:spcPct val="100000"/>
                </a:lnSpc>
              </a:pPr>
              <a:r>
                <a:rPr lang="en-US" sz="1600" b="1" strike="noStrike" spc="-1" dirty="0">
                  <a:solidFill>
                    <a:srgbClr val="404040"/>
                  </a:solidFill>
                  <a:latin typeface="Times New Roman"/>
                  <a:ea typeface="Arial Unicode MS"/>
                </a:rPr>
                <a:t>K.Mounish      -  208T5A0215</a:t>
              </a:r>
              <a:endParaRPr lang="en-IN" sz="1600" b="0" strike="noStrike" spc="-1" dirty="0">
                <a:latin typeface="Arial"/>
              </a:endParaRPr>
            </a:p>
            <a:p>
              <a:pPr>
                <a:lnSpc>
                  <a:spcPct val="100000"/>
                </a:lnSpc>
              </a:pPr>
              <a:r>
                <a:rPr lang="en-US" sz="1600" b="1" strike="noStrike" spc="-1" dirty="0">
                  <a:solidFill>
                    <a:srgbClr val="404040"/>
                  </a:solidFill>
                  <a:latin typeface="Times New Roman"/>
                  <a:ea typeface="Arial Unicode MS"/>
                </a:rPr>
                <a:t>V.Ganesh         -  208T5A0239</a:t>
              </a:r>
              <a:endParaRPr lang="en-IN" sz="1600" b="0" strike="noStrike" spc="-1" dirty="0">
                <a:latin typeface="Arial"/>
              </a:endParaRPr>
            </a:p>
            <a:p>
              <a:pPr>
                <a:lnSpc>
                  <a:spcPct val="100000"/>
                </a:lnSpc>
              </a:pPr>
              <a:r>
                <a:rPr lang="en-US" sz="1600" b="1" spc="-1" dirty="0" err="1">
                  <a:solidFill>
                    <a:srgbClr val="404040"/>
                  </a:solidFill>
                  <a:latin typeface="Times New Roman"/>
                  <a:ea typeface="Arial Unicode MS"/>
                </a:rPr>
                <a:t>A.Naveen</a:t>
              </a:r>
              <a:r>
                <a:rPr lang="en-US" sz="1600" b="1" strike="noStrike" spc="-1" dirty="0">
                  <a:solidFill>
                    <a:srgbClr val="404040"/>
                  </a:solidFill>
                  <a:latin typeface="Times New Roman"/>
                  <a:ea typeface="Arial Unicode MS"/>
                </a:rPr>
                <a:t>         -  198T5A0201</a:t>
              </a:r>
              <a:endParaRPr lang="en-IN" sz="1600" b="0" strike="noStrike" spc="-1" dirty="0">
                <a:latin typeface="Arial"/>
              </a:endParaRPr>
            </a:p>
          </p:txBody>
        </p:sp>
        <p:sp>
          <p:nvSpPr>
            <p:cNvPr id="18" name="TextBox 18">
              <a:extLst>
                <a:ext uri="{FF2B5EF4-FFF2-40B4-BE49-F238E27FC236}">
                  <a16:creationId xmlns:a16="http://schemas.microsoft.com/office/drawing/2014/main" id="{88C0D914-2C0B-D742-6D74-933A74B7DB43}"/>
                </a:ext>
              </a:extLst>
            </p:cNvPr>
            <p:cNvSpPr/>
            <p:nvPr/>
          </p:nvSpPr>
          <p:spPr>
            <a:xfrm>
              <a:off x="8979840" y="3706920"/>
              <a:ext cx="2918160" cy="402120"/>
            </a:xfrm>
            <a:prstGeom prst="rect">
              <a:avLst/>
            </a:prstGeom>
            <a:noFill/>
            <a:ln w="0">
              <a:noFill/>
            </a:ln>
          </p:spPr>
          <p:style>
            <a:lnRef idx="0">
              <a:scrgbClr r="0" g="0" b="0"/>
            </a:lnRef>
            <a:fillRef idx="0">
              <a:scrgbClr r="0" g="0" b="0"/>
            </a:fillRef>
            <a:effectRef idx="0">
              <a:scrgbClr r="0" g="0" b="0"/>
            </a:effectRef>
            <a:fontRef idx="minor"/>
          </p:style>
        </p:sp>
      </p:grpSp>
      <p:sp>
        <p:nvSpPr>
          <p:cNvPr id="2" name="TextBox 1">
            <a:extLst>
              <a:ext uri="{FF2B5EF4-FFF2-40B4-BE49-F238E27FC236}">
                <a16:creationId xmlns:a16="http://schemas.microsoft.com/office/drawing/2014/main" id="{57A74C56-886F-6D6B-3F04-98780E32BEB4}"/>
              </a:ext>
            </a:extLst>
          </p:cNvPr>
          <p:cNvSpPr txBox="1"/>
          <p:nvPr/>
        </p:nvSpPr>
        <p:spPr>
          <a:xfrm>
            <a:off x="317897" y="1872885"/>
            <a:ext cx="11556206" cy="834524"/>
          </a:xfrm>
          <a:prstGeom prst="rect">
            <a:avLst/>
          </a:prstGeom>
          <a:solidFill>
            <a:schemeClr val="bg1"/>
          </a:solidFill>
        </p:spPr>
        <p:txBody>
          <a:bodyPr wrap="square">
            <a:spAutoFit/>
          </a:bodyPr>
          <a:lstStyle/>
          <a:p>
            <a:pPr algn="ctr">
              <a:lnSpc>
                <a:spcPct val="150000"/>
              </a:lnSpc>
              <a:spcAft>
                <a:spcPts val="1000"/>
              </a:spcAft>
            </a:pPr>
            <a:r>
              <a:rPr lang="en-US" sz="3600" b="1" dirty="0">
                <a:solidFill>
                  <a:srgbClr val="34A9F8"/>
                </a:solidFill>
                <a:effectLst/>
                <a:latin typeface="Times New Roman" panose="02020603050405020304" pitchFamily="18" charset="0"/>
                <a:ea typeface="Calibri" panose="020F0502020204030204" pitchFamily="34" charset="0"/>
                <a:cs typeface="Times New Roman" panose="02020603050405020304" pitchFamily="18" charset="0"/>
              </a:rPr>
              <a:t>ENERGY SAVING USING TRAFFIC TURBINES</a:t>
            </a:r>
            <a:endParaRPr lang="en-IN" sz="3600" b="1" dirty="0">
              <a:solidFill>
                <a:srgbClr val="34A9F8"/>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2ED8E125-6CAC-2572-C73A-2A2310C33E60}"/>
              </a:ext>
            </a:extLst>
          </p:cNvPr>
          <p:cNvSpPr txBox="1"/>
          <p:nvPr/>
        </p:nvSpPr>
        <p:spPr>
          <a:xfrm>
            <a:off x="770019" y="5301397"/>
            <a:ext cx="2918160" cy="923330"/>
          </a:xfrm>
          <a:prstGeom prst="rect">
            <a:avLst/>
          </a:prstGeom>
          <a:noFill/>
        </p:spPr>
        <p:txBody>
          <a:bodyPr wrap="square" rtlCol="0">
            <a:spAutoFit/>
          </a:bodyPr>
          <a:lstStyle/>
          <a:p>
            <a:r>
              <a:rPr lang="en-US" dirty="0"/>
              <a:t>         Under the guidance of </a:t>
            </a:r>
          </a:p>
          <a:p>
            <a:r>
              <a:rPr lang="en-US" dirty="0"/>
              <a:t>          </a:t>
            </a:r>
            <a:r>
              <a:rPr lang="en-US" dirty="0" err="1"/>
              <a:t>Mrs.V.Komali</a:t>
            </a:r>
            <a:r>
              <a:rPr lang="en-US" dirty="0"/>
              <a:t>   </a:t>
            </a:r>
            <a:r>
              <a:rPr lang="en-US" dirty="0" err="1"/>
              <a:t>Mtech</a:t>
            </a:r>
            <a:endParaRPr lang="en-US" dirty="0"/>
          </a:p>
          <a:p>
            <a:r>
              <a:rPr lang="en-US" dirty="0"/>
              <a:t>          Assistant professor </a:t>
            </a:r>
            <a:endParaRPr lang="en-IN" dirty="0"/>
          </a:p>
        </p:txBody>
      </p:sp>
    </p:spTree>
    <p:extLst>
      <p:ext uri="{BB962C8B-B14F-4D97-AF65-F5344CB8AC3E}">
        <p14:creationId xmlns:p14="http://schemas.microsoft.com/office/powerpoint/2010/main" val="1920005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365125"/>
            <a:ext cx="11353800" cy="1325563"/>
          </a:xfrm>
        </p:spPr>
        <p:txBody>
          <a:bodyPr>
            <a:normAutofit/>
          </a:bodyPr>
          <a:lstStyle/>
          <a:p>
            <a:pPr algn="ctr"/>
            <a:r>
              <a:rPr lang="en-US" sz="4000" b="1" u="sng" dirty="0">
                <a:solidFill>
                  <a:srgbClr val="34A9F8"/>
                </a:solidFill>
                <a:latin typeface="Times New Roman" pitchFamily="18" charset="0"/>
                <a:cs typeface="Times New Roman" pitchFamily="18" charset="0"/>
              </a:rPr>
              <a:t>CONTENT</a:t>
            </a:r>
            <a:r>
              <a:rPr lang="en-US" sz="4000" b="1" dirty="0">
                <a:solidFill>
                  <a:srgbClr val="34A9F8"/>
                </a:solidFill>
                <a:latin typeface="Times New Roman" pitchFamily="18" charset="0"/>
                <a:cs typeface="Times New Roman" pitchFamily="18" charset="0"/>
              </a:rPr>
              <a:t> :-</a:t>
            </a:r>
          </a:p>
        </p:txBody>
      </p:sp>
      <p:sp>
        <p:nvSpPr>
          <p:cNvPr id="3" name="Content Placeholder 2"/>
          <p:cNvSpPr>
            <a:spLocks noGrp="1"/>
          </p:cNvSpPr>
          <p:nvPr>
            <p:ph idx="1"/>
          </p:nvPr>
        </p:nvSpPr>
        <p:spPr>
          <a:xfrm>
            <a:off x="1754157" y="1760311"/>
            <a:ext cx="9599644" cy="4351338"/>
          </a:xfrm>
        </p:spPr>
        <p:txBody>
          <a:bodyPr>
            <a:normAutofit fontScale="55000" lnSpcReduction="20000"/>
          </a:bodyPr>
          <a:lstStyle/>
          <a:p>
            <a:pPr marL="0" indent="0">
              <a:lnSpc>
                <a:spcPct val="200000"/>
              </a:lnSpc>
              <a:buNone/>
            </a:pPr>
            <a:r>
              <a:rPr lang="en-US" sz="2800" dirty="0">
                <a:solidFill>
                  <a:srgbClr val="FF0000"/>
                </a:solidFill>
                <a:sym typeface="Wingdings" panose="05000000000000000000" pitchFamily="2" charset="2"/>
              </a:rPr>
              <a:t>   </a:t>
            </a:r>
            <a:r>
              <a:rPr lang="en-US" dirty="0">
                <a:solidFill>
                  <a:schemeClr val="tx1">
                    <a:lumMod val="65000"/>
                    <a:lumOff val="35000"/>
                  </a:schemeClr>
                </a:solidFill>
                <a:latin typeface="Lucida Sans" panose="020B0602030504020204" pitchFamily="34" charset="0"/>
                <a:sym typeface="Wingdings" pitchFamily="2" charset="2"/>
              </a:rPr>
              <a:t>ABSTRACT</a:t>
            </a:r>
          </a:p>
          <a:p>
            <a:pPr marL="0" indent="0">
              <a:lnSpc>
                <a:spcPct val="200000"/>
              </a:lnSpc>
              <a:buNone/>
            </a:pPr>
            <a:r>
              <a:rPr lang="en-US" sz="2800" dirty="0">
                <a:solidFill>
                  <a:srgbClr val="FF0000"/>
                </a:solidFill>
                <a:sym typeface="Wingdings" panose="05000000000000000000" pitchFamily="2" charset="2"/>
              </a:rPr>
              <a:t> </a:t>
            </a:r>
            <a:r>
              <a:rPr lang="en-US" dirty="0">
                <a:solidFill>
                  <a:schemeClr val="tx1">
                    <a:lumMod val="65000"/>
                    <a:lumOff val="35000"/>
                  </a:schemeClr>
                </a:solidFill>
                <a:latin typeface="Lucida Sans" panose="020B0602030504020204" pitchFamily="34" charset="0"/>
                <a:sym typeface="Wingdings" pitchFamily="2" charset="2"/>
              </a:rPr>
              <a:t>BLOCK DIAGRAM</a:t>
            </a:r>
          </a:p>
          <a:p>
            <a:pPr marL="0" indent="0">
              <a:lnSpc>
                <a:spcPct val="200000"/>
              </a:lnSpc>
              <a:buNone/>
            </a:pPr>
            <a:r>
              <a:rPr lang="en-US" sz="2800" dirty="0">
                <a:solidFill>
                  <a:srgbClr val="FF0000"/>
                </a:solidFill>
                <a:sym typeface="Wingdings" panose="05000000000000000000" pitchFamily="2" charset="2"/>
              </a:rPr>
              <a:t> </a:t>
            </a:r>
            <a:r>
              <a:rPr lang="en-US" dirty="0">
                <a:solidFill>
                  <a:schemeClr val="tx1">
                    <a:lumMod val="65000"/>
                    <a:lumOff val="35000"/>
                  </a:schemeClr>
                </a:solidFill>
                <a:latin typeface="Lucida Sans" panose="020B0602030504020204" pitchFamily="34" charset="0"/>
                <a:sym typeface="Wingdings" pitchFamily="2" charset="2"/>
              </a:rPr>
              <a:t>WORKING</a:t>
            </a:r>
          </a:p>
          <a:p>
            <a:pPr marL="0" indent="0">
              <a:lnSpc>
                <a:spcPct val="200000"/>
              </a:lnSpc>
              <a:buNone/>
            </a:pPr>
            <a:r>
              <a:rPr lang="en-US" sz="2800" dirty="0">
                <a:solidFill>
                  <a:srgbClr val="FF0000"/>
                </a:solidFill>
                <a:sym typeface="Wingdings" panose="05000000000000000000" pitchFamily="2" charset="2"/>
              </a:rPr>
              <a:t></a:t>
            </a:r>
            <a:r>
              <a:rPr lang="en-US" dirty="0">
                <a:solidFill>
                  <a:schemeClr val="tx1">
                    <a:lumMod val="65000"/>
                    <a:lumOff val="35000"/>
                  </a:schemeClr>
                </a:solidFill>
                <a:latin typeface="Lucida Sans" panose="020B0602030504020204" pitchFamily="34" charset="0"/>
                <a:sym typeface="Wingdings" pitchFamily="2" charset="2"/>
              </a:rPr>
              <a:t>  COMPONENTS</a:t>
            </a:r>
          </a:p>
          <a:p>
            <a:pPr marL="0" indent="0">
              <a:lnSpc>
                <a:spcPct val="200000"/>
              </a:lnSpc>
              <a:buNone/>
            </a:pPr>
            <a:r>
              <a:rPr lang="en-US" sz="2800" dirty="0">
                <a:solidFill>
                  <a:srgbClr val="FF0000"/>
                </a:solidFill>
                <a:sym typeface="Wingdings" panose="05000000000000000000" pitchFamily="2" charset="2"/>
              </a:rPr>
              <a:t> </a:t>
            </a:r>
            <a:r>
              <a:rPr lang="en-US" sz="2800" dirty="0">
                <a:solidFill>
                  <a:schemeClr val="tx1">
                    <a:lumMod val="65000"/>
                    <a:lumOff val="35000"/>
                  </a:schemeClr>
                </a:solidFill>
                <a:latin typeface="Lucida Sans" panose="020B0602030504020204" pitchFamily="34" charset="0"/>
                <a:sym typeface="Wingdings" pitchFamily="2" charset="2"/>
              </a:rPr>
              <a:t> </a:t>
            </a:r>
            <a:r>
              <a:rPr lang="en-US" dirty="0">
                <a:solidFill>
                  <a:schemeClr val="tx1">
                    <a:lumMod val="65000"/>
                    <a:lumOff val="35000"/>
                  </a:schemeClr>
                </a:solidFill>
                <a:latin typeface="Lucida Sans" panose="020B0602030504020204" pitchFamily="34" charset="0"/>
                <a:sym typeface="Wingdings" pitchFamily="2" charset="2"/>
              </a:rPr>
              <a:t>HARDWARE </a:t>
            </a:r>
          </a:p>
          <a:p>
            <a:pPr marL="0" indent="0">
              <a:lnSpc>
                <a:spcPct val="200000"/>
              </a:lnSpc>
              <a:buNone/>
            </a:pPr>
            <a:r>
              <a:rPr lang="en-US" sz="2800" dirty="0">
                <a:solidFill>
                  <a:srgbClr val="FF0000"/>
                </a:solidFill>
                <a:sym typeface="Wingdings" panose="05000000000000000000" pitchFamily="2" charset="2"/>
              </a:rPr>
              <a:t> </a:t>
            </a:r>
            <a:r>
              <a:rPr lang="en-US" dirty="0">
                <a:solidFill>
                  <a:schemeClr val="tx1">
                    <a:lumMod val="65000"/>
                    <a:lumOff val="35000"/>
                  </a:schemeClr>
                </a:solidFill>
                <a:latin typeface="Lucida Sans" panose="020B0602030504020204" pitchFamily="34" charset="0"/>
                <a:sym typeface="Wingdings" pitchFamily="2" charset="2"/>
              </a:rPr>
              <a:t>TEST RESULTS</a:t>
            </a:r>
          </a:p>
          <a:p>
            <a:pPr marL="0" indent="0">
              <a:lnSpc>
                <a:spcPct val="200000"/>
              </a:lnSpc>
              <a:buNone/>
            </a:pPr>
            <a:r>
              <a:rPr lang="en-US" sz="2800" dirty="0">
                <a:solidFill>
                  <a:srgbClr val="FF0000"/>
                </a:solidFill>
                <a:sym typeface="Wingdings" panose="05000000000000000000" pitchFamily="2" charset="2"/>
              </a:rPr>
              <a:t></a:t>
            </a:r>
            <a:r>
              <a:rPr lang="en-US" dirty="0">
                <a:solidFill>
                  <a:schemeClr val="tx1">
                    <a:lumMod val="65000"/>
                    <a:lumOff val="35000"/>
                  </a:schemeClr>
                </a:solidFill>
                <a:latin typeface="Lucida Sans" panose="020B0602030504020204" pitchFamily="34" charset="0"/>
                <a:sym typeface="Wingdings" pitchFamily="2" charset="2"/>
              </a:rPr>
              <a:t> ADVANTAGES </a:t>
            </a:r>
          </a:p>
          <a:p>
            <a:pPr marL="0" indent="0">
              <a:lnSpc>
                <a:spcPct val="200000"/>
              </a:lnSpc>
              <a:buNone/>
            </a:pPr>
            <a:r>
              <a:rPr lang="en-US" sz="2800" dirty="0">
                <a:solidFill>
                  <a:srgbClr val="FF0000"/>
                </a:solidFill>
                <a:sym typeface="Wingdings" panose="05000000000000000000" pitchFamily="2" charset="2"/>
              </a:rPr>
              <a:t>  </a:t>
            </a:r>
            <a:r>
              <a:rPr lang="en-US" dirty="0">
                <a:sym typeface="Wingdings" panose="05000000000000000000" pitchFamily="2" charset="2"/>
              </a:rPr>
              <a:t>FUTURE SCOPE</a:t>
            </a:r>
            <a:endParaRPr lang="en-US" dirty="0">
              <a:solidFill>
                <a:schemeClr val="tx1">
                  <a:lumMod val="65000"/>
                  <a:lumOff val="35000"/>
                </a:schemeClr>
              </a:solidFill>
              <a:latin typeface="Lucida Sans" panose="020B0602030504020204" pitchFamily="34" charset="0"/>
              <a:sym typeface="Wingdings" pitchFamily="2" charset="2"/>
            </a:endParaRPr>
          </a:p>
          <a:p>
            <a:pPr marL="0" indent="0">
              <a:lnSpc>
                <a:spcPct val="200000"/>
              </a:lnSpc>
              <a:buNone/>
            </a:pPr>
            <a:endParaRPr lang="en-US" dirty="0">
              <a:solidFill>
                <a:schemeClr val="tx1">
                  <a:lumMod val="65000"/>
                  <a:lumOff val="35000"/>
                </a:schemeClr>
              </a:solidFill>
              <a:latin typeface="Lucida Sans" panose="020B0602030504020204" pitchFamily="34" charset="0"/>
              <a:sym typeface="Wingdings" pitchFamily="2" charset="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526747D-C5F2-2DE0-A3D1-110D9E7282C2}"/>
              </a:ext>
            </a:extLst>
          </p:cNvPr>
          <p:cNvSpPr txBox="1"/>
          <p:nvPr/>
        </p:nvSpPr>
        <p:spPr>
          <a:xfrm flipH="1">
            <a:off x="447868" y="197226"/>
            <a:ext cx="10106415" cy="584775"/>
          </a:xfrm>
          <a:prstGeom prst="rect">
            <a:avLst/>
          </a:prstGeom>
          <a:noFill/>
        </p:spPr>
        <p:txBody>
          <a:bodyPr wrap="square" rtlCol="0">
            <a:spAutoFit/>
          </a:bodyPr>
          <a:lstStyle/>
          <a:p>
            <a:r>
              <a:rPr lang="en-IN" sz="3200" b="1" dirty="0">
                <a:solidFill>
                  <a:srgbClr val="34A9F8"/>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endParaRPr lang="en-IN" sz="3200" b="1" u="sng" dirty="0">
              <a:solidFill>
                <a:srgbClr val="34A9F8"/>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542C7C46-CA35-2D48-DF0E-EB34DF306C51}"/>
              </a:ext>
            </a:extLst>
          </p:cNvPr>
          <p:cNvSpPr txBox="1"/>
          <p:nvPr/>
        </p:nvSpPr>
        <p:spPr>
          <a:xfrm>
            <a:off x="2099388" y="1177224"/>
            <a:ext cx="7641770" cy="587148"/>
          </a:xfrm>
          <a:prstGeom prst="rect">
            <a:avLst/>
          </a:prstGeom>
          <a:noFill/>
        </p:spPr>
        <p:txBody>
          <a:bodyPr wrap="square">
            <a:spAutoFit/>
          </a:bodyPr>
          <a:lstStyle/>
          <a:p>
            <a:pPr algn="ctr">
              <a:lnSpc>
                <a:spcPct val="150000"/>
              </a:lnSpc>
              <a:spcAft>
                <a:spcPts val="1000"/>
              </a:spcAft>
            </a:pP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ENERGY SAVING USING TRAFFIC TURBINE</a:t>
            </a:r>
            <a:endParaRPr lang="en-IN" sz="24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EF5B19F4-35BB-E59A-BAD6-817482E66F22}"/>
              </a:ext>
            </a:extLst>
          </p:cNvPr>
          <p:cNvSpPr txBox="1"/>
          <p:nvPr/>
        </p:nvSpPr>
        <p:spPr>
          <a:xfrm>
            <a:off x="447868" y="1619872"/>
            <a:ext cx="11457993" cy="4145879"/>
          </a:xfrm>
          <a:prstGeom prst="rect">
            <a:avLst/>
          </a:prstGeom>
          <a:noFill/>
        </p:spPr>
        <p:txBody>
          <a:bodyPr wrap="square">
            <a:spAutoFit/>
          </a:bodyPr>
          <a:lstStyle/>
          <a:p>
            <a:pPr algn="just">
              <a:lnSpc>
                <a:spcPct val="115000"/>
              </a:lnSpc>
              <a:spcAft>
                <a:spcPts val="1000"/>
              </a:spcAft>
            </a:pPr>
            <a:endParaRPr lang="en-US" sz="1800" dirty="0">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1800" dirty="0">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The main objective of our project is to design a wind turbine to recapture wind energy from vehicles on the highway. Wind energy is considered the fastest growing clean energy source however; it is limited by variable natural wind. Every year wind energy generation is increasing. Highways can provide a considerable amount of wind to drive a turbine due to high vehicle traffic. This kinetic energy is unused. Research on wind patterns was used to determine the average velocity of the wind created by oncoming vehicles is 60 – 90 mph. The wind turbines are designed to be placed on the medians therefore wind flow from both sides of the highway will be considered in the design. Moreover 20-30 mph is enough to create energy from the Traffic Turbine. The design of the turbines consists of blades, Buck-Boost convertor, collars, bearings, a shaft, gears and a generator. Additionally, since the wind source will fluctuate, a storage system for the power generated was designed to distribute and maintain a constant source of power. This power will be distributed to streetlights. Ideally, the turbine can be used globally as an unlimited power source for streetlights and other government applications.</a:t>
            </a:r>
            <a:endParaRPr lang="en-IN" sz="1400" dirty="0">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1800" b="1" dirty="0">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KEYWORDS: </a:t>
            </a:r>
            <a:r>
              <a:rPr lang="en-US" sz="1800" dirty="0">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rPr>
              <a:t>Traffic turbine, Buck-Boost convertor, Energy storage system.</a:t>
            </a:r>
            <a:endParaRPr lang="en-IN" sz="1400" dirty="0">
              <a:solidFill>
                <a:schemeClr val="tx1">
                  <a:lumMod val="85000"/>
                  <a:lumOff val="1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Title 1"/>
          <p:cNvSpPr>
            <a:spLocks noGrp="1"/>
          </p:cNvSpPr>
          <p:nvPr>
            <p:ph type="title"/>
          </p:nvPr>
        </p:nvSpPr>
        <p:spPr>
          <a:xfrm>
            <a:off x="248194" y="365127"/>
            <a:ext cx="11105606" cy="640714"/>
          </a:xfrm>
        </p:spPr>
        <p:txBody>
          <a:bodyPr>
            <a:noAutofit/>
          </a:bodyPr>
          <a:lstStyle/>
          <a:p>
            <a:r>
              <a:rPr lang="en-US" sz="4000" b="1" u="sng" dirty="0">
                <a:solidFill>
                  <a:srgbClr val="34A9F8"/>
                </a:solidFill>
                <a:latin typeface="Times New Roman" pitchFamily="18" charset="0"/>
                <a:cs typeface="Times New Roman" pitchFamily="18" charset="0"/>
              </a:rPr>
              <a:t>ABSTRACT</a:t>
            </a:r>
            <a:r>
              <a:rPr lang="en-US" sz="4000" b="1" dirty="0">
                <a:solidFill>
                  <a:srgbClr val="34A9F8"/>
                </a:solidFill>
                <a:latin typeface="Times New Roman" pitchFamily="18" charset="0"/>
                <a:cs typeface="Times New Roman" pitchFamily="18" charset="0"/>
              </a:rPr>
              <a:t> :-</a:t>
            </a:r>
          </a:p>
        </p:txBody>
      </p:sp>
    </p:spTree>
    <p:extLst>
      <p:ext uri="{BB962C8B-B14F-4D97-AF65-F5344CB8AC3E}">
        <p14:creationId xmlns:p14="http://schemas.microsoft.com/office/powerpoint/2010/main" val="3909136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Straight Arrow Connector 38">
            <a:extLst>
              <a:ext uri="{FF2B5EF4-FFF2-40B4-BE49-F238E27FC236}">
                <a16:creationId xmlns:a16="http://schemas.microsoft.com/office/drawing/2014/main" id="{6E24D165-772B-DDED-6A53-D718FB5BE95B}"/>
              </a:ext>
            </a:extLst>
          </p:cNvPr>
          <p:cNvCxnSpPr>
            <a:cxnSpLocks/>
          </p:cNvCxnSpPr>
          <p:nvPr/>
        </p:nvCxnSpPr>
        <p:spPr>
          <a:xfrm>
            <a:off x="10899489" y="1965409"/>
            <a:ext cx="0" cy="584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F01B713A-7E41-2124-60B6-33B627BEF921}"/>
              </a:ext>
            </a:extLst>
          </p:cNvPr>
          <p:cNvCxnSpPr>
            <a:cxnSpLocks/>
          </p:cNvCxnSpPr>
          <p:nvPr/>
        </p:nvCxnSpPr>
        <p:spPr>
          <a:xfrm>
            <a:off x="11191519" y="1965409"/>
            <a:ext cx="0" cy="584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7A772250-A1DA-C285-8ECA-24DCEA1E1FDF}"/>
              </a:ext>
            </a:extLst>
          </p:cNvPr>
          <p:cNvCxnSpPr>
            <a:cxnSpLocks/>
          </p:cNvCxnSpPr>
          <p:nvPr/>
        </p:nvCxnSpPr>
        <p:spPr>
          <a:xfrm>
            <a:off x="10622660" y="1965409"/>
            <a:ext cx="0" cy="584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Arrow: Down 33">
            <a:extLst>
              <a:ext uri="{FF2B5EF4-FFF2-40B4-BE49-F238E27FC236}">
                <a16:creationId xmlns:a16="http://schemas.microsoft.com/office/drawing/2014/main" id="{FE020893-2761-6B30-11D1-8ADF851FEC4F}"/>
              </a:ext>
            </a:extLst>
          </p:cNvPr>
          <p:cNvSpPr/>
          <p:nvPr/>
        </p:nvSpPr>
        <p:spPr>
          <a:xfrm rot="7036835">
            <a:off x="9550101" y="3169900"/>
            <a:ext cx="241258" cy="1736259"/>
          </a:xfrm>
          <a:prstGeom prst="downArrow">
            <a:avLst/>
          </a:prstGeom>
          <a:solidFill>
            <a:schemeClr val="tx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4" name="Arrow: Down 3">
            <a:extLst>
              <a:ext uri="{FF2B5EF4-FFF2-40B4-BE49-F238E27FC236}">
                <a16:creationId xmlns:a16="http://schemas.microsoft.com/office/drawing/2014/main" id="{EAA26B89-D334-E59F-BA02-6D4F038662B7}"/>
              </a:ext>
            </a:extLst>
          </p:cNvPr>
          <p:cNvSpPr/>
          <p:nvPr/>
        </p:nvSpPr>
        <p:spPr>
          <a:xfrm rot="10800000">
            <a:off x="10944579" y="5113791"/>
            <a:ext cx="161976" cy="436616"/>
          </a:xfrm>
          <a:prstGeom prst="downArrow">
            <a:avLst/>
          </a:prstGeom>
          <a:solidFill>
            <a:schemeClr val="tx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7012CF8-2BC8-8E7C-07F4-0B62FBBA9A77}"/>
              </a:ext>
            </a:extLst>
          </p:cNvPr>
          <p:cNvSpPr>
            <a:spLocks noGrp="1"/>
          </p:cNvSpPr>
          <p:nvPr>
            <p:ph type="title"/>
          </p:nvPr>
        </p:nvSpPr>
        <p:spPr/>
        <p:txBody>
          <a:bodyPr/>
          <a:lstStyle/>
          <a:p>
            <a:r>
              <a:rPr lang="en-US" b="1" u="sng" dirty="0">
                <a:solidFill>
                  <a:srgbClr val="34A9F8"/>
                </a:solidFill>
                <a:latin typeface="Times New Roman" pitchFamily="18" charset="0"/>
                <a:cs typeface="Times New Roman" pitchFamily="18" charset="0"/>
              </a:rPr>
              <a:t>BLOCK</a:t>
            </a:r>
            <a:r>
              <a:rPr lang="en-US" b="1" dirty="0">
                <a:solidFill>
                  <a:srgbClr val="34A9F8"/>
                </a:solidFill>
                <a:latin typeface="Times New Roman" pitchFamily="18" charset="0"/>
                <a:cs typeface="Times New Roman" pitchFamily="18" charset="0"/>
              </a:rPr>
              <a:t>  </a:t>
            </a:r>
            <a:r>
              <a:rPr lang="en-US" b="1" u="sng" dirty="0">
                <a:solidFill>
                  <a:srgbClr val="34A9F8"/>
                </a:solidFill>
                <a:latin typeface="Times New Roman" pitchFamily="18" charset="0"/>
                <a:cs typeface="Times New Roman" pitchFamily="18" charset="0"/>
              </a:rPr>
              <a:t>DIAGRAM</a:t>
            </a:r>
            <a:r>
              <a:rPr lang="en-US" b="1" dirty="0">
                <a:solidFill>
                  <a:srgbClr val="34A9F8"/>
                </a:solidFill>
                <a:latin typeface="Times New Roman" pitchFamily="18" charset="0"/>
                <a:cs typeface="Times New Roman" pitchFamily="18" charset="0"/>
              </a:rPr>
              <a:t> </a:t>
            </a:r>
            <a:r>
              <a:rPr lang="en-US" sz="4400" b="1" dirty="0">
                <a:solidFill>
                  <a:srgbClr val="34A9F8"/>
                </a:solidFill>
                <a:latin typeface="Times New Roman" pitchFamily="18" charset="0"/>
                <a:cs typeface="Times New Roman" pitchFamily="18" charset="0"/>
              </a:rPr>
              <a:t>:-</a:t>
            </a:r>
            <a:endParaRPr lang="en-IN" dirty="0">
              <a:solidFill>
                <a:srgbClr val="34A9F8"/>
              </a:solidFill>
            </a:endParaRPr>
          </a:p>
        </p:txBody>
      </p:sp>
      <p:cxnSp>
        <p:nvCxnSpPr>
          <p:cNvPr id="9" name="Straight Arrow Connector 8">
            <a:extLst>
              <a:ext uri="{FF2B5EF4-FFF2-40B4-BE49-F238E27FC236}">
                <a16:creationId xmlns:a16="http://schemas.microsoft.com/office/drawing/2014/main" id="{671CF2EC-4EBF-21D2-89D5-9B2F162983D0}"/>
              </a:ext>
            </a:extLst>
          </p:cNvPr>
          <p:cNvCxnSpPr/>
          <p:nvPr/>
        </p:nvCxnSpPr>
        <p:spPr>
          <a:xfrm>
            <a:off x="839755" y="3198453"/>
            <a:ext cx="88640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7AAA8064-6AE9-D00A-4E63-9FD0EFB2E2FB}"/>
              </a:ext>
            </a:extLst>
          </p:cNvPr>
          <p:cNvCxnSpPr/>
          <p:nvPr/>
        </p:nvCxnSpPr>
        <p:spPr>
          <a:xfrm>
            <a:off x="992155" y="3350853"/>
            <a:ext cx="88640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2545EF26-DDA4-A574-10D3-65BAACCD8611}"/>
              </a:ext>
            </a:extLst>
          </p:cNvPr>
          <p:cNvCxnSpPr/>
          <p:nvPr/>
        </p:nvCxnSpPr>
        <p:spPr>
          <a:xfrm>
            <a:off x="1144555" y="3503253"/>
            <a:ext cx="88640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 name="Flowchart: Manual Operation 11">
            <a:extLst>
              <a:ext uri="{FF2B5EF4-FFF2-40B4-BE49-F238E27FC236}">
                <a16:creationId xmlns:a16="http://schemas.microsoft.com/office/drawing/2014/main" id="{1405C905-589F-A4E0-E48A-68A2271B7A5A}"/>
              </a:ext>
            </a:extLst>
          </p:cNvPr>
          <p:cNvSpPr/>
          <p:nvPr/>
        </p:nvSpPr>
        <p:spPr>
          <a:xfrm rot="16200000">
            <a:off x="2887451" y="2701589"/>
            <a:ext cx="1059781" cy="1031041"/>
          </a:xfrm>
          <a:prstGeom prst="flowChartManualOperation">
            <a:avLst/>
          </a:prstGeom>
          <a:ln w="38100">
            <a:solidFill>
              <a:schemeClr val="tx1">
                <a:lumMod val="95000"/>
                <a:lumOff val="5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vert="vert" rtlCol="0" anchor="ctr"/>
          <a:lstStyle/>
          <a:p>
            <a:pPr algn="ctr"/>
            <a:r>
              <a:rPr lang="en-IN" sz="1600" dirty="0">
                <a:ln w="9525">
                  <a:solidFill>
                    <a:schemeClr val="tx1"/>
                  </a:solidFill>
                </a:ln>
              </a:rPr>
              <a:t>Turbine</a:t>
            </a:r>
          </a:p>
        </p:txBody>
      </p:sp>
      <p:sp>
        <p:nvSpPr>
          <p:cNvPr id="13" name="Flowchart: Connector 12">
            <a:extLst>
              <a:ext uri="{FF2B5EF4-FFF2-40B4-BE49-F238E27FC236}">
                <a16:creationId xmlns:a16="http://schemas.microsoft.com/office/drawing/2014/main" id="{1948248D-C66B-38FA-012C-35D1176E269B}"/>
              </a:ext>
            </a:extLst>
          </p:cNvPr>
          <p:cNvSpPr/>
          <p:nvPr/>
        </p:nvSpPr>
        <p:spPr>
          <a:xfrm>
            <a:off x="4394718" y="4170781"/>
            <a:ext cx="1623527" cy="1084677"/>
          </a:xfrm>
          <a:prstGeom prst="flowChartConnector">
            <a:avLst/>
          </a:prstGeom>
          <a:ln w="38100">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DC </a:t>
            </a:r>
          </a:p>
          <a:p>
            <a:pPr algn="ctr"/>
            <a:r>
              <a:rPr lang="en-US" dirty="0"/>
              <a:t>Generator</a:t>
            </a:r>
            <a:endParaRPr lang="en-IN" dirty="0"/>
          </a:p>
        </p:txBody>
      </p:sp>
      <p:sp>
        <p:nvSpPr>
          <p:cNvPr id="14" name="Octagon 13">
            <a:extLst>
              <a:ext uri="{FF2B5EF4-FFF2-40B4-BE49-F238E27FC236}">
                <a16:creationId xmlns:a16="http://schemas.microsoft.com/office/drawing/2014/main" id="{6A28441F-5905-A789-85DD-825CA2CB3ACF}"/>
              </a:ext>
            </a:extLst>
          </p:cNvPr>
          <p:cNvSpPr/>
          <p:nvPr/>
        </p:nvSpPr>
        <p:spPr>
          <a:xfrm>
            <a:off x="4780399" y="2687220"/>
            <a:ext cx="1237846" cy="1059790"/>
          </a:xfrm>
          <a:prstGeom prst="octagon">
            <a:avLst/>
          </a:prstGeom>
          <a:ln w="38100">
            <a:solidFill>
              <a:schemeClr val="tx1"/>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Gears</a:t>
            </a:r>
          </a:p>
        </p:txBody>
      </p:sp>
      <p:sp>
        <p:nvSpPr>
          <p:cNvPr id="16" name="Rectangle 15">
            <a:extLst>
              <a:ext uri="{FF2B5EF4-FFF2-40B4-BE49-F238E27FC236}">
                <a16:creationId xmlns:a16="http://schemas.microsoft.com/office/drawing/2014/main" id="{C1B87C4A-7690-481D-FE8F-ABF444F3689E}"/>
              </a:ext>
            </a:extLst>
          </p:cNvPr>
          <p:cNvSpPr/>
          <p:nvPr/>
        </p:nvSpPr>
        <p:spPr>
          <a:xfrm>
            <a:off x="7823722" y="4269203"/>
            <a:ext cx="1212974" cy="1013143"/>
          </a:xfrm>
          <a:prstGeom prst="rect">
            <a:avLst/>
          </a:prstGeom>
          <a:ln w="38100">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Battery</a:t>
            </a:r>
          </a:p>
        </p:txBody>
      </p:sp>
      <p:sp>
        <p:nvSpPr>
          <p:cNvPr id="17" name="Rectangle: Beveled 16">
            <a:extLst>
              <a:ext uri="{FF2B5EF4-FFF2-40B4-BE49-F238E27FC236}">
                <a16:creationId xmlns:a16="http://schemas.microsoft.com/office/drawing/2014/main" id="{BDC67D5F-4867-9256-AF02-6F88F18CE4D5}"/>
              </a:ext>
            </a:extLst>
          </p:cNvPr>
          <p:cNvSpPr/>
          <p:nvPr/>
        </p:nvSpPr>
        <p:spPr>
          <a:xfrm>
            <a:off x="7823722" y="1265485"/>
            <a:ext cx="1082351" cy="941609"/>
          </a:xfrm>
          <a:prstGeom prst="bevel">
            <a:avLst/>
          </a:prstGeom>
          <a:ln w="19050">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Street lights</a:t>
            </a:r>
          </a:p>
        </p:txBody>
      </p:sp>
      <p:sp>
        <p:nvSpPr>
          <p:cNvPr id="18" name="Rectangle 17">
            <a:extLst>
              <a:ext uri="{FF2B5EF4-FFF2-40B4-BE49-F238E27FC236}">
                <a16:creationId xmlns:a16="http://schemas.microsoft.com/office/drawing/2014/main" id="{D9A3045B-C54D-A2A6-D557-CEAEC8C3C971}"/>
              </a:ext>
            </a:extLst>
          </p:cNvPr>
          <p:cNvSpPr/>
          <p:nvPr/>
        </p:nvSpPr>
        <p:spPr>
          <a:xfrm>
            <a:off x="7823722" y="2799751"/>
            <a:ext cx="1147665" cy="866961"/>
          </a:xfrm>
          <a:prstGeom prst="rect">
            <a:avLst/>
          </a:prstGeom>
          <a:ln w="38100">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Relay module</a:t>
            </a:r>
            <a:endParaRPr lang="en-IN" dirty="0"/>
          </a:p>
        </p:txBody>
      </p:sp>
      <p:sp>
        <p:nvSpPr>
          <p:cNvPr id="20" name="Rectangle 19">
            <a:extLst>
              <a:ext uri="{FF2B5EF4-FFF2-40B4-BE49-F238E27FC236}">
                <a16:creationId xmlns:a16="http://schemas.microsoft.com/office/drawing/2014/main" id="{FD515453-5541-5883-6954-15AE0D3AB4C2}"/>
              </a:ext>
            </a:extLst>
          </p:cNvPr>
          <p:cNvSpPr/>
          <p:nvPr/>
        </p:nvSpPr>
        <p:spPr>
          <a:xfrm>
            <a:off x="923731" y="3747000"/>
            <a:ext cx="1031042" cy="31181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WIND</a:t>
            </a:r>
          </a:p>
        </p:txBody>
      </p:sp>
      <p:sp>
        <p:nvSpPr>
          <p:cNvPr id="21" name="Arrow: Right 20">
            <a:extLst>
              <a:ext uri="{FF2B5EF4-FFF2-40B4-BE49-F238E27FC236}">
                <a16:creationId xmlns:a16="http://schemas.microsoft.com/office/drawing/2014/main" id="{84A90AB6-92E1-201F-341E-52977C9955A2}"/>
              </a:ext>
            </a:extLst>
          </p:cNvPr>
          <p:cNvSpPr/>
          <p:nvPr/>
        </p:nvSpPr>
        <p:spPr>
          <a:xfrm>
            <a:off x="2155371" y="3198453"/>
            <a:ext cx="727787" cy="15238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22" name="Arrow: Right 21">
            <a:extLst>
              <a:ext uri="{FF2B5EF4-FFF2-40B4-BE49-F238E27FC236}">
                <a16:creationId xmlns:a16="http://schemas.microsoft.com/office/drawing/2014/main" id="{668571BB-5A7D-7E11-67A1-BEB65F76DD1B}"/>
              </a:ext>
            </a:extLst>
          </p:cNvPr>
          <p:cNvSpPr/>
          <p:nvPr/>
        </p:nvSpPr>
        <p:spPr>
          <a:xfrm>
            <a:off x="3970186" y="3142467"/>
            <a:ext cx="771327" cy="15238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23" name="Arrow: Down 22">
            <a:extLst>
              <a:ext uri="{FF2B5EF4-FFF2-40B4-BE49-F238E27FC236}">
                <a16:creationId xmlns:a16="http://schemas.microsoft.com/office/drawing/2014/main" id="{F0550D23-2F3C-89BB-F065-B3445B6A1A0A}"/>
              </a:ext>
            </a:extLst>
          </p:cNvPr>
          <p:cNvSpPr/>
          <p:nvPr/>
        </p:nvSpPr>
        <p:spPr>
          <a:xfrm>
            <a:off x="5337110" y="3747000"/>
            <a:ext cx="167951" cy="42378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25" name="Arrow: Right 24">
            <a:extLst>
              <a:ext uri="{FF2B5EF4-FFF2-40B4-BE49-F238E27FC236}">
                <a16:creationId xmlns:a16="http://schemas.microsoft.com/office/drawing/2014/main" id="{56CE4541-93B9-2D4D-29E2-84FBA96BAEC0}"/>
              </a:ext>
            </a:extLst>
          </p:cNvPr>
          <p:cNvSpPr/>
          <p:nvPr/>
        </p:nvSpPr>
        <p:spPr>
          <a:xfrm>
            <a:off x="6018246" y="4622941"/>
            <a:ext cx="1805476" cy="18445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30" name="Rectangle: Rounded Corners 29">
            <a:extLst>
              <a:ext uri="{FF2B5EF4-FFF2-40B4-BE49-F238E27FC236}">
                <a16:creationId xmlns:a16="http://schemas.microsoft.com/office/drawing/2014/main" id="{E5143F34-EB1D-AF10-311D-46BFBF47B3A1}"/>
              </a:ext>
            </a:extLst>
          </p:cNvPr>
          <p:cNvSpPr/>
          <p:nvPr/>
        </p:nvSpPr>
        <p:spPr>
          <a:xfrm>
            <a:off x="10181147" y="5550407"/>
            <a:ext cx="1688840" cy="381394"/>
          </a:xfrm>
          <a:prstGeom prst="roundRect">
            <a:avLst/>
          </a:prstGeom>
          <a:ln w="28575">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AC Supply</a:t>
            </a:r>
          </a:p>
        </p:txBody>
      </p:sp>
      <p:sp>
        <p:nvSpPr>
          <p:cNvPr id="31" name="Arrow: Down 30">
            <a:extLst>
              <a:ext uri="{FF2B5EF4-FFF2-40B4-BE49-F238E27FC236}">
                <a16:creationId xmlns:a16="http://schemas.microsoft.com/office/drawing/2014/main" id="{9DDD4697-6AEE-E887-132F-86BCC3FC4FF6}"/>
              </a:ext>
            </a:extLst>
          </p:cNvPr>
          <p:cNvSpPr/>
          <p:nvPr/>
        </p:nvSpPr>
        <p:spPr>
          <a:xfrm rot="10800000">
            <a:off x="8313577" y="3691457"/>
            <a:ext cx="167953" cy="572668"/>
          </a:xfrm>
          <a:prstGeom prst="downArrow">
            <a:avLst/>
          </a:prstGeom>
          <a:solidFill>
            <a:schemeClr val="tx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32" name="Arrow: Down 31">
            <a:extLst>
              <a:ext uri="{FF2B5EF4-FFF2-40B4-BE49-F238E27FC236}">
                <a16:creationId xmlns:a16="http://schemas.microsoft.com/office/drawing/2014/main" id="{48C7ABF1-BE3C-7C3E-E49D-F7ABB99FEF2E}"/>
              </a:ext>
            </a:extLst>
          </p:cNvPr>
          <p:cNvSpPr/>
          <p:nvPr/>
        </p:nvSpPr>
        <p:spPr>
          <a:xfrm rot="10800000">
            <a:off x="8262256" y="2212172"/>
            <a:ext cx="167953" cy="572668"/>
          </a:xfrm>
          <a:prstGeom prst="downArrow">
            <a:avLst/>
          </a:prstGeom>
          <a:solidFill>
            <a:schemeClr val="tx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E15D7459-B76E-1B18-E44B-3C684B96ABB8}"/>
              </a:ext>
            </a:extLst>
          </p:cNvPr>
          <p:cNvSpPr/>
          <p:nvPr/>
        </p:nvSpPr>
        <p:spPr>
          <a:xfrm>
            <a:off x="10406644" y="4255071"/>
            <a:ext cx="1237846" cy="880346"/>
          </a:xfrm>
          <a:prstGeom prst="rect">
            <a:avLst/>
          </a:prstGeom>
          <a:ln w="38100">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Ac to Dc converter</a:t>
            </a:r>
            <a:endParaRPr lang="en-IN" dirty="0"/>
          </a:p>
        </p:txBody>
      </p:sp>
      <p:sp>
        <p:nvSpPr>
          <p:cNvPr id="6" name="Rectangle 5">
            <a:extLst>
              <a:ext uri="{FF2B5EF4-FFF2-40B4-BE49-F238E27FC236}">
                <a16:creationId xmlns:a16="http://schemas.microsoft.com/office/drawing/2014/main" id="{E40BB759-F3C7-7AAF-AF95-DC53C7A604C1}"/>
              </a:ext>
            </a:extLst>
          </p:cNvPr>
          <p:cNvSpPr/>
          <p:nvPr/>
        </p:nvSpPr>
        <p:spPr>
          <a:xfrm>
            <a:off x="10280566" y="2549409"/>
            <a:ext cx="1237846" cy="1158716"/>
          </a:xfrm>
          <a:prstGeom prst="rect">
            <a:avLst/>
          </a:prstGeom>
          <a:ln w="38100">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Arduino</a:t>
            </a:r>
            <a:endParaRPr lang="en-IN" dirty="0"/>
          </a:p>
        </p:txBody>
      </p:sp>
      <p:cxnSp>
        <p:nvCxnSpPr>
          <p:cNvPr id="8" name="Straight Arrow Connector 7">
            <a:extLst>
              <a:ext uri="{FF2B5EF4-FFF2-40B4-BE49-F238E27FC236}">
                <a16:creationId xmlns:a16="http://schemas.microsoft.com/office/drawing/2014/main" id="{EDFDE60C-9863-3C99-CB57-C2FA49650C26}"/>
              </a:ext>
            </a:extLst>
          </p:cNvPr>
          <p:cNvCxnSpPr/>
          <p:nvPr/>
        </p:nvCxnSpPr>
        <p:spPr>
          <a:xfrm flipH="1">
            <a:off x="8971387" y="2930803"/>
            <a:ext cx="13091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50BA4EE9-F8EF-BD34-A580-CC4823F357A9}"/>
              </a:ext>
            </a:extLst>
          </p:cNvPr>
          <p:cNvCxnSpPr/>
          <p:nvPr/>
        </p:nvCxnSpPr>
        <p:spPr>
          <a:xfrm flipH="1">
            <a:off x="8971386" y="3124738"/>
            <a:ext cx="13091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E95D20AD-CA48-1FCC-8CDC-29597F8203C6}"/>
              </a:ext>
            </a:extLst>
          </p:cNvPr>
          <p:cNvCxnSpPr/>
          <p:nvPr/>
        </p:nvCxnSpPr>
        <p:spPr>
          <a:xfrm flipH="1">
            <a:off x="8971386" y="3363405"/>
            <a:ext cx="13091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Rectangle 34">
            <a:extLst>
              <a:ext uri="{FF2B5EF4-FFF2-40B4-BE49-F238E27FC236}">
                <a16:creationId xmlns:a16="http://schemas.microsoft.com/office/drawing/2014/main" id="{7F013B00-6489-2A2A-6E69-AE837A2D7C5C}"/>
              </a:ext>
            </a:extLst>
          </p:cNvPr>
          <p:cNvSpPr/>
          <p:nvPr/>
        </p:nvSpPr>
        <p:spPr>
          <a:xfrm>
            <a:off x="10280566" y="1138976"/>
            <a:ext cx="1237846" cy="880347"/>
          </a:xfrm>
          <a:prstGeom prst="rect">
            <a:avLst/>
          </a:prstGeom>
          <a:ln w="38100">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LDR</a:t>
            </a:r>
            <a:endParaRPr lang="en-IN" dirty="0"/>
          </a:p>
        </p:txBody>
      </p:sp>
    </p:spTree>
    <p:extLst>
      <p:ext uri="{BB962C8B-B14F-4D97-AF65-F5344CB8AC3E}">
        <p14:creationId xmlns:p14="http://schemas.microsoft.com/office/powerpoint/2010/main" val="500308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9B24F-7E91-96CE-8773-83C6827D5DE2}"/>
              </a:ext>
            </a:extLst>
          </p:cNvPr>
          <p:cNvSpPr>
            <a:spLocks noGrp="1"/>
          </p:cNvSpPr>
          <p:nvPr>
            <p:ph type="title"/>
          </p:nvPr>
        </p:nvSpPr>
        <p:spPr/>
        <p:txBody>
          <a:bodyPr/>
          <a:lstStyle/>
          <a:p>
            <a:r>
              <a:rPr lang="en-US" b="1" u="sng" dirty="0">
                <a:solidFill>
                  <a:srgbClr val="34A9F8"/>
                </a:solidFill>
                <a:latin typeface="Times New Roman" pitchFamily="18" charset="0"/>
                <a:cs typeface="Times New Roman" pitchFamily="18" charset="0"/>
              </a:rPr>
              <a:t>WORKING</a:t>
            </a:r>
            <a:r>
              <a:rPr lang="en-US" b="1" dirty="0">
                <a:solidFill>
                  <a:srgbClr val="34A9F8"/>
                </a:solidFill>
                <a:latin typeface="Times New Roman" pitchFamily="18" charset="0"/>
                <a:cs typeface="Times New Roman" pitchFamily="18" charset="0"/>
              </a:rPr>
              <a:t> </a:t>
            </a:r>
            <a:r>
              <a:rPr lang="en-US" sz="4400" b="1" dirty="0">
                <a:solidFill>
                  <a:srgbClr val="34A9F8"/>
                </a:solidFill>
                <a:latin typeface="Times New Roman" pitchFamily="18" charset="0"/>
                <a:cs typeface="Times New Roman" pitchFamily="18" charset="0"/>
              </a:rPr>
              <a:t>:-</a:t>
            </a:r>
            <a:endParaRPr lang="en-IN" dirty="0"/>
          </a:p>
        </p:txBody>
      </p:sp>
      <p:sp>
        <p:nvSpPr>
          <p:cNvPr id="3" name="Content Placeholder 2">
            <a:extLst>
              <a:ext uri="{FF2B5EF4-FFF2-40B4-BE49-F238E27FC236}">
                <a16:creationId xmlns:a16="http://schemas.microsoft.com/office/drawing/2014/main" id="{3B943E5F-DB09-8D77-F5F8-D243138913F2}"/>
              </a:ext>
            </a:extLst>
          </p:cNvPr>
          <p:cNvSpPr>
            <a:spLocks noGrp="1"/>
          </p:cNvSpPr>
          <p:nvPr>
            <p:ph idx="1"/>
          </p:nvPr>
        </p:nvSpPr>
        <p:spPr>
          <a:xfrm>
            <a:off x="838200" y="2251138"/>
            <a:ext cx="10515600" cy="4351338"/>
          </a:xfrm>
        </p:spPr>
        <p:txBody>
          <a:bodyPr/>
          <a:lstStyle/>
          <a:p>
            <a:pPr marL="0" indent="0" algn="just">
              <a:buNone/>
            </a:pPr>
            <a:r>
              <a:rPr lang="en-US" dirty="0"/>
              <a:t>Whenever the vehicles passed through the highways medians, it generates some wind along with them. If we place a traffic turbine in the medians of the highways, it will generate some energy. Which will be fed to the traffic lights to save the electrical Energy. And also ac supply will be taken and converted to dc by using ac to dc converter and then fed to the street light, In between these there will be a relay module which will be controlled by an Arduino based on the signal passed from LDR .In this way it will automatically switches from battery mode to dc supply mode based on the charge in the batteries.</a:t>
            </a:r>
            <a:endParaRPr lang="en-IN" dirty="0"/>
          </a:p>
        </p:txBody>
      </p:sp>
    </p:spTree>
    <p:extLst>
      <p:ext uri="{BB962C8B-B14F-4D97-AF65-F5344CB8AC3E}">
        <p14:creationId xmlns:p14="http://schemas.microsoft.com/office/powerpoint/2010/main" val="1306233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F4E98F7-D58C-4342-6CD9-F2EAD4C7FDA2}"/>
              </a:ext>
            </a:extLst>
          </p:cNvPr>
          <p:cNvGrpSpPr/>
          <p:nvPr/>
        </p:nvGrpSpPr>
        <p:grpSpPr>
          <a:xfrm>
            <a:off x="447868" y="5905500"/>
            <a:ext cx="10725889" cy="755274"/>
            <a:chOff x="447868" y="5905500"/>
            <a:chExt cx="10725889" cy="755274"/>
          </a:xfrm>
        </p:grpSpPr>
        <p:sp>
          <p:nvSpPr>
            <p:cNvPr id="5" name="TextBox 4">
              <a:extLst>
                <a:ext uri="{FF2B5EF4-FFF2-40B4-BE49-F238E27FC236}">
                  <a16:creationId xmlns:a16="http://schemas.microsoft.com/office/drawing/2014/main" id="{90057FDD-5D57-AE0E-20EB-5C1689582532}"/>
                </a:ext>
              </a:extLst>
            </p:cNvPr>
            <p:cNvSpPr txBox="1"/>
            <p:nvPr/>
          </p:nvSpPr>
          <p:spPr>
            <a:xfrm>
              <a:off x="1278294" y="6024510"/>
              <a:ext cx="9895463" cy="636264"/>
            </a:xfrm>
            <a:prstGeom prst="rect">
              <a:avLst/>
            </a:prstGeom>
            <a:noFill/>
          </p:spPr>
          <p:txBody>
            <a:bodyPr wrap="square">
              <a:spAutoFit/>
            </a:bodyPr>
            <a:lstStyle/>
            <a:p>
              <a:pPr algn="ctr">
                <a:lnSpc>
                  <a:spcPct val="115000"/>
                </a:lnSpc>
                <a:spcAft>
                  <a:spcPts val="500"/>
                </a:spcAft>
              </a:pP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DHANEKULA INSTTUTE OF ENGINEERING AND TECHNOLOGY</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500"/>
                </a:spcAft>
              </a:pP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ELECTRICAL AND ELECTRONICS ENGINEERING</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C6435715-9841-0576-B736-D7E779C595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7868" y="5905500"/>
              <a:ext cx="795530" cy="755274"/>
            </a:xfrm>
            <a:prstGeom prst="rect">
              <a:avLst/>
            </a:prstGeom>
          </p:spPr>
        </p:pic>
      </p:grpSp>
      <p:sp>
        <p:nvSpPr>
          <p:cNvPr id="7" name="TextBox 6">
            <a:extLst>
              <a:ext uri="{FF2B5EF4-FFF2-40B4-BE49-F238E27FC236}">
                <a16:creationId xmlns:a16="http://schemas.microsoft.com/office/drawing/2014/main" id="{3227038F-8260-781F-1F37-FB0352A8240A}"/>
              </a:ext>
            </a:extLst>
          </p:cNvPr>
          <p:cNvSpPr txBox="1"/>
          <p:nvPr/>
        </p:nvSpPr>
        <p:spPr>
          <a:xfrm>
            <a:off x="595293" y="1259632"/>
            <a:ext cx="10851502" cy="461665"/>
          </a:xfrm>
          <a:prstGeom prst="rect">
            <a:avLst/>
          </a:prstGeom>
          <a:noFill/>
        </p:spPr>
        <p:txBody>
          <a:bodyPr wrap="square" rtlCol="0">
            <a:spAutoFit/>
          </a:bodyPr>
          <a:lstStyle/>
          <a:p>
            <a:r>
              <a:rPr lang="en-IN" sz="2400" dirty="0"/>
              <a:t> </a:t>
            </a:r>
          </a:p>
        </p:txBody>
      </p:sp>
      <p:pic>
        <p:nvPicPr>
          <p:cNvPr id="11" name="Picture 10">
            <a:extLst>
              <a:ext uri="{FF2B5EF4-FFF2-40B4-BE49-F238E27FC236}">
                <a16:creationId xmlns:a16="http://schemas.microsoft.com/office/drawing/2014/main" id="{A5A4E572-AA7F-793C-AA9B-1B954B3E03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7545" y="2141659"/>
            <a:ext cx="2537927" cy="2313991"/>
          </a:xfrm>
          <a:prstGeom prst="rect">
            <a:avLst/>
          </a:prstGeom>
        </p:spPr>
      </p:pic>
      <p:pic>
        <p:nvPicPr>
          <p:cNvPr id="13" name="Picture 12" descr="A picture containing indoor, electronics&#10;&#10;Description automatically generated">
            <a:extLst>
              <a:ext uri="{FF2B5EF4-FFF2-40B4-BE49-F238E27FC236}">
                <a16:creationId xmlns:a16="http://schemas.microsoft.com/office/drawing/2014/main" id="{167D74C5-0036-2D0D-DA8E-AA9FE9522CB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28398" y="2180774"/>
            <a:ext cx="2209562" cy="2209562"/>
          </a:xfrm>
          <a:prstGeom prst="rect">
            <a:avLst/>
          </a:prstGeom>
        </p:spPr>
      </p:pic>
      <p:pic>
        <p:nvPicPr>
          <p:cNvPr id="15" name="Picture 14" descr="A picture containing text&#10;&#10;Description automatically generated">
            <a:extLst>
              <a:ext uri="{FF2B5EF4-FFF2-40B4-BE49-F238E27FC236}">
                <a16:creationId xmlns:a16="http://schemas.microsoft.com/office/drawing/2014/main" id="{3E695052-D410-9117-A37A-141BA951F42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22388" y="2188880"/>
            <a:ext cx="2537927" cy="2537927"/>
          </a:xfrm>
          <a:prstGeom prst="rect">
            <a:avLst/>
          </a:prstGeom>
        </p:spPr>
      </p:pic>
      <p:sp>
        <p:nvSpPr>
          <p:cNvPr id="12" name="Title 1"/>
          <p:cNvSpPr>
            <a:spLocks noGrp="1"/>
          </p:cNvSpPr>
          <p:nvPr>
            <p:ph type="title"/>
          </p:nvPr>
        </p:nvSpPr>
        <p:spPr>
          <a:xfrm>
            <a:off x="470263" y="365126"/>
            <a:ext cx="10883537" cy="1137104"/>
          </a:xfrm>
        </p:spPr>
        <p:txBody>
          <a:bodyPr>
            <a:normAutofit/>
          </a:bodyPr>
          <a:lstStyle/>
          <a:p>
            <a:r>
              <a:rPr lang="en-US" sz="4000" b="1" u="sng" dirty="0">
                <a:solidFill>
                  <a:srgbClr val="34A9F8"/>
                </a:solidFill>
                <a:latin typeface="Times New Roman" pitchFamily="18" charset="0"/>
                <a:cs typeface="Times New Roman" pitchFamily="18" charset="0"/>
              </a:rPr>
              <a:t>COMPONENTS</a:t>
            </a:r>
            <a:r>
              <a:rPr lang="en-US" sz="4000" b="1" dirty="0">
                <a:solidFill>
                  <a:srgbClr val="34A9F8"/>
                </a:solidFill>
                <a:latin typeface="Times New Roman" pitchFamily="18" charset="0"/>
                <a:cs typeface="Times New Roman" pitchFamily="18" charset="0"/>
              </a:rPr>
              <a:t>  :-</a:t>
            </a:r>
          </a:p>
        </p:txBody>
      </p:sp>
      <p:sp>
        <p:nvSpPr>
          <p:cNvPr id="16" name="Rectangle 15"/>
          <p:cNvSpPr/>
          <p:nvPr/>
        </p:nvSpPr>
        <p:spPr>
          <a:xfrm>
            <a:off x="692331" y="4389120"/>
            <a:ext cx="1854925" cy="75764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t>12-32 V DC generator</a:t>
            </a:r>
          </a:p>
        </p:txBody>
      </p:sp>
      <p:sp>
        <p:nvSpPr>
          <p:cNvPr id="18" name="Rectangle 17"/>
          <p:cNvSpPr/>
          <p:nvPr/>
        </p:nvSpPr>
        <p:spPr>
          <a:xfrm>
            <a:off x="4371702" y="4437017"/>
            <a:ext cx="1854925" cy="75764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t>Ac-Dc convertor</a:t>
            </a:r>
          </a:p>
        </p:txBody>
      </p:sp>
      <p:sp>
        <p:nvSpPr>
          <p:cNvPr id="19" name="Rectangle 18"/>
          <p:cNvSpPr/>
          <p:nvPr/>
        </p:nvSpPr>
        <p:spPr>
          <a:xfrm>
            <a:off x="8421188" y="4423955"/>
            <a:ext cx="1854925" cy="75764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t>Battery</a:t>
            </a:r>
          </a:p>
        </p:txBody>
      </p:sp>
    </p:spTree>
    <p:extLst>
      <p:ext uri="{BB962C8B-B14F-4D97-AF65-F5344CB8AC3E}">
        <p14:creationId xmlns:p14="http://schemas.microsoft.com/office/powerpoint/2010/main" val="151352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PINION-removebg-preview.png"/>
          <p:cNvPicPr>
            <a:picLocks noGrp="1" noChangeAspect="1"/>
          </p:cNvPicPr>
          <p:nvPr>
            <p:ph idx="1"/>
          </p:nvPr>
        </p:nvPicPr>
        <p:blipFill>
          <a:blip r:embed="rId2" cstate="print"/>
          <a:stretch>
            <a:fillRect/>
          </a:stretch>
        </p:blipFill>
        <p:spPr>
          <a:xfrm>
            <a:off x="555897" y="436653"/>
            <a:ext cx="2143125" cy="2143125"/>
          </a:xfrm>
        </p:spPr>
      </p:pic>
      <p:pic>
        <p:nvPicPr>
          <p:cNvPr id="12" name="Picture 11" descr="street-light-150w-removebg-preview.png"/>
          <p:cNvPicPr>
            <a:picLocks noChangeAspect="1"/>
          </p:cNvPicPr>
          <p:nvPr/>
        </p:nvPicPr>
        <p:blipFill>
          <a:blip r:embed="rId3" cstate="print"/>
          <a:stretch>
            <a:fillRect/>
          </a:stretch>
        </p:blipFill>
        <p:spPr>
          <a:xfrm>
            <a:off x="4282220" y="635506"/>
            <a:ext cx="1778945" cy="1559053"/>
          </a:xfrm>
          <a:prstGeom prst="rect">
            <a:avLst/>
          </a:prstGeom>
        </p:spPr>
      </p:pic>
      <p:pic>
        <p:nvPicPr>
          <p:cNvPr id="16" name="Picture 15" descr="Screenshot_2023-02-03_143127-removebg-preview.png"/>
          <p:cNvPicPr>
            <a:picLocks noChangeAspect="1"/>
          </p:cNvPicPr>
          <p:nvPr/>
        </p:nvPicPr>
        <p:blipFill>
          <a:blip r:embed="rId4" cstate="print"/>
          <a:stretch>
            <a:fillRect/>
          </a:stretch>
        </p:blipFill>
        <p:spPr>
          <a:xfrm>
            <a:off x="8613965" y="487008"/>
            <a:ext cx="1418309" cy="2043040"/>
          </a:xfrm>
          <a:prstGeom prst="rect">
            <a:avLst/>
          </a:prstGeom>
        </p:spPr>
      </p:pic>
      <p:sp>
        <p:nvSpPr>
          <p:cNvPr id="2" name="Rectangle 1">
            <a:extLst>
              <a:ext uri="{FF2B5EF4-FFF2-40B4-BE49-F238E27FC236}">
                <a16:creationId xmlns:a16="http://schemas.microsoft.com/office/drawing/2014/main" id="{2923EAD9-0346-C085-A053-289AD825F032}"/>
              </a:ext>
            </a:extLst>
          </p:cNvPr>
          <p:cNvSpPr/>
          <p:nvPr/>
        </p:nvSpPr>
        <p:spPr>
          <a:xfrm>
            <a:off x="699996" y="2750820"/>
            <a:ext cx="1854925" cy="75764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t>Gear Pinions</a:t>
            </a:r>
          </a:p>
        </p:txBody>
      </p:sp>
      <p:sp>
        <p:nvSpPr>
          <p:cNvPr id="3" name="Rectangle 2">
            <a:extLst>
              <a:ext uri="{FF2B5EF4-FFF2-40B4-BE49-F238E27FC236}">
                <a16:creationId xmlns:a16="http://schemas.microsoft.com/office/drawing/2014/main" id="{EF947A25-34F5-855B-47B7-C9927BE86B11}"/>
              </a:ext>
            </a:extLst>
          </p:cNvPr>
          <p:cNvSpPr/>
          <p:nvPr/>
        </p:nvSpPr>
        <p:spPr>
          <a:xfrm>
            <a:off x="4367121" y="2750820"/>
            <a:ext cx="1854925" cy="75764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t>Led Street Light</a:t>
            </a:r>
          </a:p>
        </p:txBody>
      </p:sp>
      <p:sp>
        <p:nvSpPr>
          <p:cNvPr id="4" name="Rectangle 3">
            <a:extLst>
              <a:ext uri="{FF2B5EF4-FFF2-40B4-BE49-F238E27FC236}">
                <a16:creationId xmlns:a16="http://schemas.microsoft.com/office/drawing/2014/main" id="{AF42E092-DB93-1A7A-7FA6-BC0A0A9AA9C3}"/>
              </a:ext>
            </a:extLst>
          </p:cNvPr>
          <p:cNvSpPr/>
          <p:nvPr/>
        </p:nvSpPr>
        <p:spPr>
          <a:xfrm>
            <a:off x="8272371" y="2750820"/>
            <a:ext cx="1854925" cy="75764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t>Blades of Turbine</a:t>
            </a:r>
          </a:p>
        </p:txBody>
      </p:sp>
      <p:pic>
        <p:nvPicPr>
          <p:cNvPr id="6" name="Picture 5" descr="A picture containing electronics, camera&#10;&#10;Description automatically generated">
            <a:extLst>
              <a:ext uri="{FF2B5EF4-FFF2-40B4-BE49-F238E27FC236}">
                <a16:creationId xmlns:a16="http://schemas.microsoft.com/office/drawing/2014/main" id="{4BAF5171-6A68-691E-CDB1-F880F2132D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9996" y="3898704"/>
            <a:ext cx="1758678" cy="1735333"/>
          </a:xfrm>
          <a:prstGeom prst="rect">
            <a:avLst/>
          </a:prstGeom>
        </p:spPr>
      </p:pic>
      <p:pic>
        <p:nvPicPr>
          <p:cNvPr id="8" name="Picture 7" descr="A picture containing tool, light&#10;&#10;Description automatically generated">
            <a:extLst>
              <a:ext uri="{FF2B5EF4-FFF2-40B4-BE49-F238E27FC236}">
                <a16:creationId xmlns:a16="http://schemas.microsoft.com/office/drawing/2014/main" id="{1947498D-CC5A-B431-9ADA-29E935A6A59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67121" y="3795712"/>
            <a:ext cx="2143125" cy="2138363"/>
          </a:xfrm>
          <a:prstGeom prst="rect">
            <a:avLst/>
          </a:prstGeom>
        </p:spPr>
      </p:pic>
      <p:pic>
        <p:nvPicPr>
          <p:cNvPr id="14" name="Picture 13" descr="A close-up of a knife&#10;&#10;Description automatically generated with medium confidence">
            <a:extLst>
              <a:ext uri="{FF2B5EF4-FFF2-40B4-BE49-F238E27FC236}">
                <a16:creationId xmlns:a16="http://schemas.microsoft.com/office/drawing/2014/main" id="{7D2E1F49-DDA1-6B45-96BC-CCDE564D293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18693" y="3729238"/>
            <a:ext cx="1854925" cy="1524000"/>
          </a:xfrm>
          <a:prstGeom prst="rect">
            <a:avLst/>
          </a:prstGeom>
        </p:spPr>
      </p:pic>
      <p:sp>
        <p:nvSpPr>
          <p:cNvPr id="15" name="Rectangle 14">
            <a:extLst>
              <a:ext uri="{FF2B5EF4-FFF2-40B4-BE49-F238E27FC236}">
                <a16:creationId xmlns:a16="http://schemas.microsoft.com/office/drawing/2014/main" id="{476823E9-856B-7A22-EC3D-B94E2C43361E}"/>
              </a:ext>
            </a:extLst>
          </p:cNvPr>
          <p:cNvSpPr/>
          <p:nvPr/>
        </p:nvSpPr>
        <p:spPr>
          <a:xfrm>
            <a:off x="699996" y="5634037"/>
            <a:ext cx="1854925" cy="75764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t>Bearings</a:t>
            </a:r>
          </a:p>
        </p:txBody>
      </p:sp>
      <p:sp>
        <p:nvSpPr>
          <p:cNvPr id="18" name="Rectangle 17">
            <a:extLst>
              <a:ext uri="{FF2B5EF4-FFF2-40B4-BE49-F238E27FC236}">
                <a16:creationId xmlns:a16="http://schemas.microsoft.com/office/drawing/2014/main" id="{63F92975-B7C9-BEDE-F136-8C11F50AA3F2}"/>
              </a:ext>
            </a:extLst>
          </p:cNvPr>
          <p:cNvSpPr/>
          <p:nvPr/>
        </p:nvSpPr>
        <p:spPr>
          <a:xfrm>
            <a:off x="4367121" y="5634037"/>
            <a:ext cx="1854925" cy="75764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t>¾ inch steel pipe</a:t>
            </a:r>
          </a:p>
        </p:txBody>
      </p:sp>
      <p:sp>
        <p:nvSpPr>
          <p:cNvPr id="19" name="Rectangle 18">
            <a:extLst>
              <a:ext uri="{FF2B5EF4-FFF2-40B4-BE49-F238E27FC236}">
                <a16:creationId xmlns:a16="http://schemas.microsoft.com/office/drawing/2014/main" id="{4010D213-D071-8F7F-E141-6F74D9271335}"/>
              </a:ext>
            </a:extLst>
          </p:cNvPr>
          <p:cNvSpPr/>
          <p:nvPr/>
        </p:nvSpPr>
        <p:spPr>
          <a:xfrm>
            <a:off x="8272371" y="5634037"/>
            <a:ext cx="1854925" cy="75764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t>Square  iron pipe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2E2E1-3E9B-09B5-870B-D1E5B20CD373}"/>
              </a:ext>
            </a:extLst>
          </p:cNvPr>
          <p:cNvSpPr>
            <a:spLocks noGrp="1"/>
          </p:cNvSpPr>
          <p:nvPr>
            <p:ph type="title"/>
          </p:nvPr>
        </p:nvSpPr>
        <p:spPr>
          <a:xfrm>
            <a:off x="3282700" y="304605"/>
            <a:ext cx="5924674" cy="810532"/>
          </a:xfrm>
        </p:spPr>
        <p:txBody>
          <a:bodyPr>
            <a:normAutofit/>
          </a:bodyPr>
          <a:lstStyle/>
          <a:p>
            <a:pPr algn="ctr"/>
            <a:r>
              <a:rPr lang="en-US" sz="4000" u="sng" dirty="0"/>
              <a:t>HARDWARE</a:t>
            </a:r>
          </a:p>
        </p:txBody>
      </p:sp>
      <p:pic>
        <p:nvPicPr>
          <p:cNvPr id="5" name="Content Placeholder 4" descr="A picture containing indoor, person&#10;&#10;Description automatically generated">
            <a:extLst>
              <a:ext uri="{FF2B5EF4-FFF2-40B4-BE49-F238E27FC236}">
                <a16:creationId xmlns:a16="http://schemas.microsoft.com/office/drawing/2014/main" id="{90CBF4AB-73AA-C6E5-F208-D5E931AFE3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68715" y="1299483"/>
            <a:ext cx="2824811" cy="5059363"/>
          </a:xfrm>
        </p:spPr>
      </p:pic>
      <p:pic>
        <p:nvPicPr>
          <p:cNvPr id="7" name="Picture 6" descr="A picture containing indoor, wall, floor&#10;&#10;Description automatically generated">
            <a:extLst>
              <a:ext uri="{FF2B5EF4-FFF2-40B4-BE49-F238E27FC236}">
                <a16:creationId xmlns:a16="http://schemas.microsoft.com/office/drawing/2014/main" id="{BBA3AF17-61C0-712E-6F25-5E14075723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4393" y="1299483"/>
            <a:ext cx="2933700" cy="5059364"/>
          </a:xfrm>
          <a:prstGeom prst="rect">
            <a:avLst/>
          </a:prstGeom>
        </p:spPr>
      </p:pic>
      <p:sp>
        <p:nvSpPr>
          <p:cNvPr id="8" name="TextBox 7">
            <a:extLst>
              <a:ext uri="{FF2B5EF4-FFF2-40B4-BE49-F238E27FC236}">
                <a16:creationId xmlns:a16="http://schemas.microsoft.com/office/drawing/2014/main" id="{E7B2D874-3238-6B23-5485-A7312E464C1E}"/>
              </a:ext>
            </a:extLst>
          </p:cNvPr>
          <p:cNvSpPr txBox="1"/>
          <p:nvPr/>
        </p:nvSpPr>
        <p:spPr>
          <a:xfrm>
            <a:off x="7588289" y="6289113"/>
            <a:ext cx="3563332" cy="369332"/>
          </a:xfrm>
          <a:prstGeom prst="rect">
            <a:avLst/>
          </a:prstGeom>
          <a:noFill/>
        </p:spPr>
        <p:txBody>
          <a:bodyPr wrap="square" rtlCol="0">
            <a:spAutoFit/>
          </a:bodyPr>
          <a:lstStyle/>
          <a:p>
            <a:r>
              <a:rPr lang="en-US" dirty="0"/>
              <a:t>PROJECT AFTER ASSEMBLING</a:t>
            </a:r>
            <a:endParaRPr lang="en-IN" dirty="0"/>
          </a:p>
        </p:txBody>
      </p:sp>
      <p:pic>
        <p:nvPicPr>
          <p:cNvPr id="4" name="Picture 3">
            <a:extLst>
              <a:ext uri="{FF2B5EF4-FFF2-40B4-BE49-F238E27FC236}">
                <a16:creationId xmlns:a16="http://schemas.microsoft.com/office/drawing/2014/main" id="{0530C4D5-CB97-341B-F15F-12DB87E8D2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6948360" y="1939412"/>
            <a:ext cx="4959472" cy="3679615"/>
          </a:xfrm>
          <a:prstGeom prst="rect">
            <a:avLst/>
          </a:prstGeom>
        </p:spPr>
      </p:pic>
    </p:spTree>
    <p:extLst>
      <p:ext uri="{BB962C8B-B14F-4D97-AF65-F5344CB8AC3E}">
        <p14:creationId xmlns:p14="http://schemas.microsoft.com/office/powerpoint/2010/main" val="3111587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4EA09-3BD3-A634-2F79-2976620B69A1}"/>
              </a:ext>
            </a:extLst>
          </p:cNvPr>
          <p:cNvSpPr>
            <a:spLocks noGrp="1"/>
          </p:cNvSpPr>
          <p:nvPr>
            <p:ph type="title"/>
          </p:nvPr>
        </p:nvSpPr>
        <p:spPr/>
        <p:txBody>
          <a:bodyPr/>
          <a:lstStyle/>
          <a:p>
            <a:r>
              <a:rPr lang="en-US" u="sng" dirty="0">
                <a:solidFill>
                  <a:srgbClr val="34A9F8"/>
                </a:solidFill>
              </a:rPr>
              <a:t>TESTING RESULTS</a:t>
            </a:r>
            <a:r>
              <a:rPr lang="en-US" dirty="0">
                <a:solidFill>
                  <a:srgbClr val="34A9F8"/>
                </a:solidFill>
              </a:rPr>
              <a:t> :-</a:t>
            </a:r>
          </a:p>
        </p:txBody>
      </p:sp>
      <p:sp>
        <p:nvSpPr>
          <p:cNvPr id="13" name="Rectangle 12">
            <a:extLst>
              <a:ext uri="{FF2B5EF4-FFF2-40B4-BE49-F238E27FC236}">
                <a16:creationId xmlns:a16="http://schemas.microsoft.com/office/drawing/2014/main" id="{D001DAE1-7E73-DA13-6433-B257EC7477C0}"/>
              </a:ext>
            </a:extLst>
          </p:cNvPr>
          <p:cNvSpPr/>
          <p:nvPr/>
        </p:nvSpPr>
        <p:spPr>
          <a:xfrm>
            <a:off x="908189" y="6077392"/>
            <a:ext cx="2646032" cy="603625"/>
          </a:xfrm>
          <a:prstGeom prst="rect">
            <a:avLst/>
          </a:prstGeom>
          <a:ln w="19050">
            <a:extLst>
              <a:ext uri="{C807C97D-BFC1-408E-A445-0C87EB9F89A2}">
                <ask:lineSketchStyleProps xmlns:ask="http://schemas.microsoft.com/office/drawing/2018/sketchyshapes" sd="981765707">
                  <a:custGeom>
                    <a:avLst/>
                    <a:gdLst>
                      <a:gd name="connsiteX0" fmla="*/ 0 w 2832197"/>
                      <a:gd name="connsiteY0" fmla="*/ 0 h 603625"/>
                      <a:gd name="connsiteX1" fmla="*/ 2832197 w 2832197"/>
                      <a:gd name="connsiteY1" fmla="*/ 0 h 603625"/>
                      <a:gd name="connsiteX2" fmla="*/ 2832197 w 2832197"/>
                      <a:gd name="connsiteY2" fmla="*/ 603625 h 603625"/>
                      <a:gd name="connsiteX3" fmla="*/ 0 w 2832197"/>
                      <a:gd name="connsiteY3" fmla="*/ 603625 h 603625"/>
                      <a:gd name="connsiteX4" fmla="*/ 0 w 2832197"/>
                      <a:gd name="connsiteY4" fmla="*/ 0 h 603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2197" h="603625" fill="none" extrusionOk="0">
                        <a:moveTo>
                          <a:pt x="0" y="0"/>
                        </a:moveTo>
                        <a:cubicBezTo>
                          <a:pt x="1189089" y="-33775"/>
                          <a:pt x="2155346" y="138873"/>
                          <a:pt x="2832197" y="0"/>
                        </a:cubicBezTo>
                        <a:cubicBezTo>
                          <a:pt x="2845152" y="110323"/>
                          <a:pt x="2844790" y="408070"/>
                          <a:pt x="2832197" y="603625"/>
                        </a:cubicBezTo>
                        <a:cubicBezTo>
                          <a:pt x="2168140" y="466295"/>
                          <a:pt x="709448" y="465769"/>
                          <a:pt x="0" y="603625"/>
                        </a:cubicBezTo>
                        <a:cubicBezTo>
                          <a:pt x="28569" y="501593"/>
                          <a:pt x="-8398" y="92421"/>
                          <a:pt x="0" y="0"/>
                        </a:cubicBezTo>
                        <a:close/>
                      </a:path>
                      <a:path w="2832197" h="603625" stroke="0" extrusionOk="0">
                        <a:moveTo>
                          <a:pt x="0" y="0"/>
                        </a:moveTo>
                        <a:cubicBezTo>
                          <a:pt x="1033619" y="-101487"/>
                          <a:pt x="1682391" y="-162162"/>
                          <a:pt x="2832197" y="0"/>
                        </a:cubicBezTo>
                        <a:cubicBezTo>
                          <a:pt x="2804244" y="242893"/>
                          <a:pt x="2814614" y="337406"/>
                          <a:pt x="2832197" y="603625"/>
                        </a:cubicBezTo>
                        <a:cubicBezTo>
                          <a:pt x="1767913" y="653690"/>
                          <a:pt x="1099013" y="445176"/>
                          <a:pt x="0" y="603625"/>
                        </a:cubicBezTo>
                        <a:cubicBezTo>
                          <a:pt x="10764" y="482191"/>
                          <a:pt x="31316" y="287697"/>
                          <a:pt x="0" y="0"/>
                        </a:cubicBezTo>
                        <a:close/>
                      </a:path>
                    </a:pathLst>
                  </a:custGeom>
                  <ask:type>
                    <ask:lineSketchNone/>
                  </ask:type>
                </ask:lineSketchStyleProps>
              </a:ext>
            </a:extLst>
          </a:ln>
          <a:effectLst>
            <a:softEdge rad="12700"/>
          </a:effectLst>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OFF CONDITION</a:t>
            </a:r>
          </a:p>
        </p:txBody>
      </p:sp>
      <p:sp>
        <p:nvSpPr>
          <p:cNvPr id="14" name="Rectangle 13">
            <a:extLst>
              <a:ext uri="{FF2B5EF4-FFF2-40B4-BE49-F238E27FC236}">
                <a16:creationId xmlns:a16="http://schemas.microsoft.com/office/drawing/2014/main" id="{980652E1-3427-9E8F-8028-C71CD95B9E6D}"/>
              </a:ext>
            </a:extLst>
          </p:cNvPr>
          <p:cNvSpPr/>
          <p:nvPr/>
        </p:nvSpPr>
        <p:spPr>
          <a:xfrm>
            <a:off x="4906035" y="6077391"/>
            <a:ext cx="2646032" cy="603625"/>
          </a:xfrm>
          <a:prstGeom prst="rect">
            <a:avLst/>
          </a:prstGeom>
          <a:ln w="19050">
            <a:extLst>
              <a:ext uri="{C807C97D-BFC1-408E-A445-0C87EB9F89A2}">
                <ask:lineSketchStyleProps xmlns:ask="http://schemas.microsoft.com/office/drawing/2018/sketchyshapes" sd="981765707">
                  <a:custGeom>
                    <a:avLst/>
                    <a:gdLst>
                      <a:gd name="connsiteX0" fmla="*/ 0 w 2832197"/>
                      <a:gd name="connsiteY0" fmla="*/ 0 h 603625"/>
                      <a:gd name="connsiteX1" fmla="*/ 2832197 w 2832197"/>
                      <a:gd name="connsiteY1" fmla="*/ 0 h 603625"/>
                      <a:gd name="connsiteX2" fmla="*/ 2832197 w 2832197"/>
                      <a:gd name="connsiteY2" fmla="*/ 603625 h 603625"/>
                      <a:gd name="connsiteX3" fmla="*/ 0 w 2832197"/>
                      <a:gd name="connsiteY3" fmla="*/ 603625 h 603625"/>
                      <a:gd name="connsiteX4" fmla="*/ 0 w 2832197"/>
                      <a:gd name="connsiteY4" fmla="*/ 0 h 603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2197" h="603625" fill="none" extrusionOk="0">
                        <a:moveTo>
                          <a:pt x="0" y="0"/>
                        </a:moveTo>
                        <a:cubicBezTo>
                          <a:pt x="1189089" y="-33775"/>
                          <a:pt x="2155346" y="138873"/>
                          <a:pt x="2832197" y="0"/>
                        </a:cubicBezTo>
                        <a:cubicBezTo>
                          <a:pt x="2845152" y="110323"/>
                          <a:pt x="2844790" y="408070"/>
                          <a:pt x="2832197" y="603625"/>
                        </a:cubicBezTo>
                        <a:cubicBezTo>
                          <a:pt x="2168140" y="466295"/>
                          <a:pt x="709448" y="465769"/>
                          <a:pt x="0" y="603625"/>
                        </a:cubicBezTo>
                        <a:cubicBezTo>
                          <a:pt x="28569" y="501593"/>
                          <a:pt x="-8398" y="92421"/>
                          <a:pt x="0" y="0"/>
                        </a:cubicBezTo>
                        <a:close/>
                      </a:path>
                      <a:path w="2832197" h="603625" stroke="0" extrusionOk="0">
                        <a:moveTo>
                          <a:pt x="0" y="0"/>
                        </a:moveTo>
                        <a:cubicBezTo>
                          <a:pt x="1033619" y="-101487"/>
                          <a:pt x="1682391" y="-162162"/>
                          <a:pt x="2832197" y="0"/>
                        </a:cubicBezTo>
                        <a:cubicBezTo>
                          <a:pt x="2804244" y="242893"/>
                          <a:pt x="2814614" y="337406"/>
                          <a:pt x="2832197" y="603625"/>
                        </a:cubicBezTo>
                        <a:cubicBezTo>
                          <a:pt x="1767913" y="653690"/>
                          <a:pt x="1099013" y="445176"/>
                          <a:pt x="0" y="603625"/>
                        </a:cubicBezTo>
                        <a:cubicBezTo>
                          <a:pt x="10764" y="482191"/>
                          <a:pt x="31316" y="287697"/>
                          <a:pt x="0" y="0"/>
                        </a:cubicBezTo>
                        <a:close/>
                      </a:path>
                    </a:pathLst>
                  </a:custGeom>
                  <ask:type>
                    <ask:lineSketchNone/>
                  </ask:type>
                </ask:lineSketchStyleProps>
              </a:ext>
            </a:extLst>
          </a:ln>
          <a:effectLst>
            <a:softEdge rad="12700"/>
          </a:effectLst>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BATEERY MODE</a:t>
            </a:r>
          </a:p>
        </p:txBody>
      </p:sp>
      <p:pic>
        <p:nvPicPr>
          <p:cNvPr id="5" name="Picture 4">
            <a:extLst>
              <a:ext uri="{FF2B5EF4-FFF2-40B4-BE49-F238E27FC236}">
                <a16:creationId xmlns:a16="http://schemas.microsoft.com/office/drawing/2014/main" id="{B708F244-B6F0-6B70-59AC-4F36F11880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393351" y="2412469"/>
            <a:ext cx="3675706" cy="2646032"/>
          </a:xfrm>
          <a:prstGeom prst="rect">
            <a:avLst/>
          </a:prstGeom>
        </p:spPr>
      </p:pic>
      <p:sp>
        <p:nvSpPr>
          <p:cNvPr id="6" name="Rectangle 5">
            <a:extLst>
              <a:ext uri="{FF2B5EF4-FFF2-40B4-BE49-F238E27FC236}">
                <a16:creationId xmlns:a16="http://schemas.microsoft.com/office/drawing/2014/main" id="{3C859DF5-0D49-D132-9E03-3CD4D89BBFDE}"/>
              </a:ext>
            </a:extLst>
          </p:cNvPr>
          <p:cNvSpPr/>
          <p:nvPr/>
        </p:nvSpPr>
        <p:spPr>
          <a:xfrm>
            <a:off x="8637781" y="6077391"/>
            <a:ext cx="2646032" cy="603625"/>
          </a:xfrm>
          <a:prstGeom prst="rect">
            <a:avLst/>
          </a:prstGeom>
          <a:ln w="19050">
            <a:extLst>
              <a:ext uri="{C807C97D-BFC1-408E-A445-0C87EB9F89A2}">
                <ask:lineSketchStyleProps xmlns:ask="http://schemas.microsoft.com/office/drawing/2018/sketchyshapes" sd="981765707">
                  <a:custGeom>
                    <a:avLst/>
                    <a:gdLst>
                      <a:gd name="connsiteX0" fmla="*/ 0 w 2832197"/>
                      <a:gd name="connsiteY0" fmla="*/ 0 h 603625"/>
                      <a:gd name="connsiteX1" fmla="*/ 2832197 w 2832197"/>
                      <a:gd name="connsiteY1" fmla="*/ 0 h 603625"/>
                      <a:gd name="connsiteX2" fmla="*/ 2832197 w 2832197"/>
                      <a:gd name="connsiteY2" fmla="*/ 603625 h 603625"/>
                      <a:gd name="connsiteX3" fmla="*/ 0 w 2832197"/>
                      <a:gd name="connsiteY3" fmla="*/ 603625 h 603625"/>
                      <a:gd name="connsiteX4" fmla="*/ 0 w 2832197"/>
                      <a:gd name="connsiteY4" fmla="*/ 0 h 603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2197" h="603625" fill="none" extrusionOk="0">
                        <a:moveTo>
                          <a:pt x="0" y="0"/>
                        </a:moveTo>
                        <a:cubicBezTo>
                          <a:pt x="1189089" y="-33775"/>
                          <a:pt x="2155346" y="138873"/>
                          <a:pt x="2832197" y="0"/>
                        </a:cubicBezTo>
                        <a:cubicBezTo>
                          <a:pt x="2845152" y="110323"/>
                          <a:pt x="2844790" y="408070"/>
                          <a:pt x="2832197" y="603625"/>
                        </a:cubicBezTo>
                        <a:cubicBezTo>
                          <a:pt x="2168140" y="466295"/>
                          <a:pt x="709448" y="465769"/>
                          <a:pt x="0" y="603625"/>
                        </a:cubicBezTo>
                        <a:cubicBezTo>
                          <a:pt x="28569" y="501593"/>
                          <a:pt x="-8398" y="92421"/>
                          <a:pt x="0" y="0"/>
                        </a:cubicBezTo>
                        <a:close/>
                      </a:path>
                      <a:path w="2832197" h="603625" stroke="0" extrusionOk="0">
                        <a:moveTo>
                          <a:pt x="0" y="0"/>
                        </a:moveTo>
                        <a:cubicBezTo>
                          <a:pt x="1033619" y="-101487"/>
                          <a:pt x="1682391" y="-162162"/>
                          <a:pt x="2832197" y="0"/>
                        </a:cubicBezTo>
                        <a:cubicBezTo>
                          <a:pt x="2804244" y="242893"/>
                          <a:pt x="2814614" y="337406"/>
                          <a:pt x="2832197" y="603625"/>
                        </a:cubicBezTo>
                        <a:cubicBezTo>
                          <a:pt x="1767913" y="653690"/>
                          <a:pt x="1099013" y="445176"/>
                          <a:pt x="0" y="603625"/>
                        </a:cubicBezTo>
                        <a:cubicBezTo>
                          <a:pt x="10764" y="482191"/>
                          <a:pt x="31316" y="287697"/>
                          <a:pt x="0" y="0"/>
                        </a:cubicBezTo>
                        <a:close/>
                      </a:path>
                    </a:pathLst>
                  </a:custGeom>
                  <ask:type>
                    <ask:lineSketchNone/>
                  </ask:type>
                </ask:lineSketchStyleProps>
              </a:ext>
            </a:extLst>
          </a:ln>
          <a:effectLst>
            <a:softEdge rad="12700"/>
          </a:effectLst>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DC SUPPLY MODE</a:t>
            </a:r>
          </a:p>
        </p:txBody>
      </p:sp>
      <p:pic>
        <p:nvPicPr>
          <p:cNvPr id="7" name="Picture 6">
            <a:extLst>
              <a:ext uri="{FF2B5EF4-FFF2-40B4-BE49-F238E27FC236}">
                <a16:creationId xmlns:a16="http://schemas.microsoft.com/office/drawing/2014/main" id="{C059B5B8-8D4D-5575-CB20-50E722BDA8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4541" y="2074400"/>
            <a:ext cx="2302917" cy="3322169"/>
          </a:xfrm>
          <a:prstGeom prst="rect">
            <a:avLst/>
          </a:prstGeom>
        </p:spPr>
      </p:pic>
      <p:pic>
        <p:nvPicPr>
          <p:cNvPr id="8" name="Picture 7">
            <a:extLst>
              <a:ext uri="{FF2B5EF4-FFF2-40B4-BE49-F238E27FC236}">
                <a16:creationId xmlns:a16="http://schemas.microsoft.com/office/drawing/2014/main" id="{1E6D13D7-DF02-F560-F730-C1DDBAAF5D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18327" y="2074399"/>
            <a:ext cx="2302917" cy="3322169"/>
          </a:xfrm>
          <a:prstGeom prst="rect">
            <a:avLst/>
          </a:prstGeom>
        </p:spPr>
      </p:pic>
    </p:spTree>
    <p:extLst>
      <p:ext uri="{BB962C8B-B14F-4D97-AF65-F5344CB8AC3E}">
        <p14:creationId xmlns:p14="http://schemas.microsoft.com/office/powerpoint/2010/main" val="942783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8FBC525-6724-323D-5ADF-2CEC703EB96A}"/>
              </a:ext>
            </a:extLst>
          </p:cNvPr>
          <p:cNvSpPr>
            <a:spLocks noGrp="1"/>
          </p:cNvSpPr>
          <p:nvPr>
            <p:ph type="title"/>
          </p:nvPr>
        </p:nvSpPr>
        <p:spPr>
          <a:xfrm>
            <a:off x="470263" y="365126"/>
            <a:ext cx="10883537" cy="1137104"/>
          </a:xfrm>
        </p:spPr>
        <p:txBody>
          <a:bodyPr>
            <a:normAutofit/>
          </a:bodyPr>
          <a:lstStyle/>
          <a:p>
            <a:r>
              <a:rPr lang="en-US" sz="4000" b="1" u="sng" dirty="0">
                <a:latin typeface="Times New Roman" pitchFamily="18" charset="0"/>
                <a:cs typeface="Times New Roman" pitchFamily="18" charset="0"/>
              </a:rPr>
              <a:t>ADVANTAGES</a:t>
            </a:r>
            <a:r>
              <a:rPr lang="en-US" sz="4000" b="1" dirty="0">
                <a:latin typeface="Times New Roman" pitchFamily="18" charset="0"/>
                <a:cs typeface="Times New Roman" pitchFamily="18" charset="0"/>
              </a:rPr>
              <a:t>:-</a:t>
            </a:r>
          </a:p>
        </p:txBody>
      </p:sp>
      <p:sp>
        <p:nvSpPr>
          <p:cNvPr id="6" name="TextBox 5">
            <a:extLst>
              <a:ext uri="{FF2B5EF4-FFF2-40B4-BE49-F238E27FC236}">
                <a16:creationId xmlns:a16="http://schemas.microsoft.com/office/drawing/2014/main" id="{CCEE1683-7376-F336-9C9A-8979177BAA50}"/>
              </a:ext>
            </a:extLst>
          </p:cNvPr>
          <p:cNvSpPr txBox="1"/>
          <p:nvPr/>
        </p:nvSpPr>
        <p:spPr>
          <a:xfrm>
            <a:off x="470263" y="1620808"/>
            <a:ext cx="11230325" cy="2750112"/>
          </a:xfrm>
          <a:prstGeom prst="rect">
            <a:avLst/>
          </a:prstGeom>
          <a:noFill/>
        </p:spPr>
        <p:txBody>
          <a:bodyPr wrap="square">
            <a:spAutoFit/>
          </a:bodyPr>
          <a:lstStyle/>
          <a:p>
            <a:pPr marL="285750" indent="-285750">
              <a:lnSpc>
                <a:spcPct val="250000"/>
              </a:lnSpc>
              <a:buFont typeface="Wingdings" panose="05000000000000000000" pitchFamily="2" charset="2"/>
              <a:buChar char="à"/>
            </a:pPr>
            <a:r>
              <a:rPr lang="en-US" b="0" i="0" dirty="0">
                <a:solidFill>
                  <a:srgbClr val="202124"/>
                </a:solidFill>
                <a:effectLst/>
                <a:latin typeface="arial" panose="020B0604020202020204" pitchFamily="34" charset="0"/>
              </a:rPr>
              <a:t>there is no need of pointing the turbine in the wind direction. </a:t>
            </a:r>
          </a:p>
          <a:p>
            <a:pPr marL="285750" indent="-285750">
              <a:lnSpc>
                <a:spcPct val="250000"/>
              </a:lnSpc>
              <a:buFont typeface="Wingdings" panose="05000000000000000000" pitchFamily="2" charset="2"/>
              <a:buChar char="à"/>
            </a:pPr>
            <a:r>
              <a:rPr lang="en-US" b="0" i="0" dirty="0">
                <a:solidFill>
                  <a:srgbClr val="202124"/>
                </a:solidFill>
                <a:effectLst/>
                <a:latin typeface="arial" panose="020B0604020202020204" pitchFamily="34" charset="0"/>
              </a:rPr>
              <a:t>It is efficient because the yaw drive and pitch mechanism are not needed.</a:t>
            </a:r>
          </a:p>
          <a:p>
            <a:pPr marL="285750" indent="-285750">
              <a:lnSpc>
                <a:spcPct val="250000"/>
              </a:lnSpc>
              <a:buFont typeface="Wingdings" panose="05000000000000000000" pitchFamily="2" charset="2"/>
              <a:buChar char="à"/>
            </a:pPr>
            <a:r>
              <a:rPr lang="en-US" dirty="0">
                <a:solidFill>
                  <a:srgbClr val="202124"/>
                </a:solidFill>
                <a:latin typeface="arial" panose="020B0604020202020204" pitchFamily="34" charset="0"/>
              </a:rPr>
              <a:t>It will Automatically change the supply whenever it is required to change from Battery to ac supply.</a:t>
            </a:r>
          </a:p>
          <a:p>
            <a:pPr marL="285750" indent="-285750">
              <a:lnSpc>
                <a:spcPct val="250000"/>
              </a:lnSpc>
              <a:buFont typeface="Wingdings" panose="05000000000000000000" pitchFamily="2" charset="2"/>
              <a:buChar char="à"/>
            </a:pPr>
            <a:r>
              <a:rPr lang="en-US" dirty="0">
                <a:solidFill>
                  <a:srgbClr val="202124"/>
                </a:solidFill>
                <a:latin typeface="arial" panose="020B0604020202020204" pitchFamily="34" charset="0"/>
              </a:rPr>
              <a:t>There is no need to transfer the Energy generated from the Traffic turbine.</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FC28C-9DDA-F527-DFA8-793CD6190887}"/>
              </a:ext>
            </a:extLst>
          </p:cNvPr>
          <p:cNvSpPr>
            <a:spLocks noGrp="1"/>
          </p:cNvSpPr>
          <p:nvPr>
            <p:ph type="title"/>
          </p:nvPr>
        </p:nvSpPr>
        <p:spPr>
          <a:xfrm>
            <a:off x="836645" y="355795"/>
            <a:ext cx="10515600" cy="1325563"/>
          </a:xfrm>
        </p:spPr>
        <p:txBody>
          <a:bodyPr/>
          <a:lstStyle/>
          <a:p>
            <a:r>
              <a:rPr lang="en-IN" b="1" u="sng" dirty="0"/>
              <a:t>FUTURE SCOPE  AND CONCLUSION :-</a:t>
            </a:r>
          </a:p>
        </p:txBody>
      </p:sp>
      <p:sp>
        <p:nvSpPr>
          <p:cNvPr id="3" name="Content Placeholder 2">
            <a:extLst>
              <a:ext uri="{FF2B5EF4-FFF2-40B4-BE49-F238E27FC236}">
                <a16:creationId xmlns:a16="http://schemas.microsoft.com/office/drawing/2014/main" id="{CBD68142-6377-07EB-2371-3230BECBD719}"/>
              </a:ext>
            </a:extLst>
          </p:cNvPr>
          <p:cNvSpPr>
            <a:spLocks noGrp="1"/>
          </p:cNvSpPr>
          <p:nvPr>
            <p:ph idx="1"/>
          </p:nvPr>
        </p:nvSpPr>
        <p:spPr>
          <a:xfrm>
            <a:off x="951723" y="1604865"/>
            <a:ext cx="9095792" cy="4572098"/>
          </a:xfrm>
        </p:spPr>
        <p:txBody>
          <a:bodyPr/>
          <a:lstStyle/>
          <a:p>
            <a:pPr marL="0" indent="0">
              <a:buNone/>
            </a:pPr>
            <a:endParaRPr lang="en-IN" sz="18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50000"/>
              </a:lnSpc>
            </a:pPr>
            <a:r>
              <a:rPr lang="en-IN" sz="2200" dirty="0">
                <a:effectLst/>
                <a:latin typeface="Times New Roman" panose="02020603050405020304" pitchFamily="18" charset="0"/>
                <a:ea typeface="Times New Roman" panose="02020603050405020304" pitchFamily="18" charset="0"/>
                <a:cs typeface="Times New Roman" panose="02020603050405020304" pitchFamily="18" charset="0"/>
              </a:rPr>
              <a:t>The supply change over circuit needs to sense the LDR signal throught out the whole day, The power  consumption will be less but not negligible. </a:t>
            </a:r>
          </a:p>
          <a:p>
            <a:pPr marL="0" indent="0">
              <a:buNone/>
            </a:pPr>
            <a:endParaRPr lang="en-IN" sz="2200" dirty="0">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50000"/>
              </a:lnSpc>
            </a:pPr>
            <a:r>
              <a:rPr lang="en-IN" sz="2200" dirty="0">
                <a:effectLst/>
                <a:latin typeface="Times New Roman" panose="02020603050405020304" pitchFamily="18" charset="0"/>
                <a:ea typeface="Times New Roman" panose="02020603050405020304" pitchFamily="18" charset="0"/>
                <a:cs typeface="Times New Roman" panose="02020603050405020304" pitchFamily="18" charset="0"/>
              </a:rPr>
              <a:t>To overcome this situation we want to activate the supply changing circuit on specific timings like 6 pm to 6 am in our future project implementation.</a:t>
            </a:r>
          </a:p>
          <a:p>
            <a:endParaRPr lang="en-IN" dirty="0"/>
          </a:p>
        </p:txBody>
      </p:sp>
    </p:spTree>
    <p:extLst>
      <p:ext uri="{BB962C8B-B14F-4D97-AF65-F5344CB8AC3E}">
        <p14:creationId xmlns:p14="http://schemas.microsoft.com/office/powerpoint/2010/main" val="3266955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FA60110-34E4-9811-DBA4-253676E9EA71}"/>
              </a:ext>
            </a:extLst>
          </p:cNvPr>
          <p:cNvSpPr txBox="1"/>
          <p:nvPr/>
        </p:nvSpPr>
        <p:spPr>
          <a:xfrm>
            <a:off x="4236096" y="2767280"/>
            <a:ext cx="3722915" cy="1323439"/>
          </a:xfrm>
          <a:prstGeom prst="rect">
            <a:avLst/>
          </a:prstGeom>
          <a:noFill/>
        </p:spPr>
        <p:txBody>
          <a:bodyPr wrap="square" rtlCol="0">
            <a:spAutoFit/>
          </a:bodyPr>
          <a:lstStyle/>
          <a:p>
            <a:r>
              <a:rPr lang="en-IN" sz="4000" dirty="0">
                <a:latin typeface="Times New Roman" panose="02020603050405020304" pitchFamily="18" charset="0"/>
                <a:cs typeface="Times New Roman" panose="02020603050405020304" pitchFamily="18" charset="0"/>
              </a:rPr>
              <a:t>THANK YOU </a:t>
            </a:r>
          </a:p>
          <a:p>
            <a:r>
              <a:rPr lang="en-IN" sz="4000" dirty="0">
                <a:latin typeface="Times New Roman" panose="02020603050405020304" pitchFamily="18" charset="0"/>
                <a:cs typeface="Times New Roman" panose="02020603050405020304" pitchFamily="18" charset="0"/>
              </a:rPr>
              <a:t>        ALL</a:t>
            </a:r>
          </a:p>
        </p:txBody>
      </p:sp>
    </p:spTree>
    <p:extLst>
      <p:ext uri="{BB962C8B-B14F-4D97-AF65-F5344CB8AC3E}">
        <p14:creationId xmlns:p14="http://schemas.microsoft.com/office/powerpoint/2010/main" val="3654881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581</TotalTime>
  <Words>637</Words>
  <Application>Microsoft Office PowerPoint</Application>
  <PresentationFormat>Widescreen</PresentationFormat>
  <Paragraphs>74</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Arial</vt:lpstr>
      <vt:lpstr>Calibri</vt:lpstr>
      <vt:lpstr>Calibri Light</vt:lpstr>
      <vt:lpstr>Lucida Sans</vt:lpstr>
      <vt:lpstr>Times New Roman</vt:lpstr>
      <vt:lpstr>Wingdings</vt:lpstr>
      <vt:lpstr>Office Theme</vt:lpstr>
      <vt:lpstr>PowerPoint Presentation</vt:lpstr>
      <vt:lpstr>CONTENT :-</vt:lpstr>
      <vt:lpstr>ABSTRACT :-</vt:lpstr>
      <vt:lpstr>BLOCK  DIAGRAM :-</vt:lpstr>
      <vt:lpstr>WORKING :-</vt:lpstr>
      <vt:lpstr>COMPONENTS  :-</vt:lpstr>
      <vt:lpstr>PowerPoint Presentation</vt:lpstr>
      <vt:lpstr>HARDWARE</vt:lpstr>
      <vt:lpstr>TESTING RESULTS :-</vt:lpstr>
      <vt:lpstr>ADVANTAGES:-</vt:lpstr>
      <vt:lpstr>FUTURE SCOPE  AND 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208T5A0209</dc:creator>
  <cp:lastModifiedBy>Mounish Karumuri</cp:lastModifiedBy>
  <cp:revision>43</cp:revision>
  <dcterms:created xsi:type="dcterms:W3CDTF">2022-12-28T09:13:29Z</dcterms:created>
  <dcterms:modified xsi:type="dcterms:W3CDTF">2023-04-15T03:26:31Z</dcterms:modified>
</cp:coreProperties>
</file>